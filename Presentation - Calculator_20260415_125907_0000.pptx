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ITC Avant Garde Gothic" charset="1" panose="020B0502020202020204"/>
      <p:regular r:id="rId15"/>
    </p:embeddedFont>
    <p:embeddedFont>
      <p:font typeface="TT Fors" charset="1" panose="020B000303000102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75492" y="1351057"/>
            <a:ext cx="13715569" cy="3394324"/>
            <a:chOff x="0" y="0"/>
            <a:chExt cx="18287426" cy="4525765"/>
          </a:xfrm>
        </p:grpSpPr>
        <p:sp>
          <p:nvSpPr>
            <p:cNvPr name="TextBox 3" id="3"/>
            <p:cNvSpPr txBox="true"/>
            <p:nvPr/>
          </p:nvSpPr>
          <p:spPr>
            <a:xfrm rot="0">
              <a:off x="0" y="1667566"/>
              <a:ext cx="18287426" cy="2858199"/>
            </a:xfrm>
            <a:prstGeom prst="rect">
              <a:avLst/>
            </a:prstGeom>
          </p:spPr>
          <p:txBody>
            <a:bodyPr anchor="t" rtlCol="false" tIns="0" lIns="0" bIns="0" rIns="0">
              <a:spAutoFit/>
            </a:bodyPr>
            <a:lstStyle/>
            <a:p>
              <a:pPr algn="l" marL="0" indent="0" lvl="0">
                <a:lnSpc>
                  <a:spcPts val="14048"/>
                </a:lnSpc>
              </a:pPr>
              <a:r>
                <a:rPr lang="en-US" sz="14048" spc="-421">
                  <a:solidFill>
                    <a:srgbClr val="F1F4F8"/>
                  </a:solidFill>
                  <a:latin typeface="ITC Avant Garde Gothic"/>
                  <a:ea typeface="ITC Avant Garde Gothic"/>
                  <a:cs typeface="ITC Avant Garde Gothic"/>
                  <a:sym typeface="ITC Avant Garde Gothic"/>
                </a:rPr>
                <a:t>Calculator</a:t>
              </a:r>
            </a:p>
          </p:txBody>
        </p:sp>
        <p:sp>
          <p:nvSpPr>
            <p:cNvPr name="TextBox 4" id="4"/>
            <p:cNvSpPr txBox="true"/>
            <p:nvPr/>
          </p:nvSpPr>
          <p:spPr>
            <a:xfrm rot="0">
              <a:off x="0" y="-142875"/>
              <a:ext cx="18287426" cy="875561"/>
            </a:xfrm>
            <a:prstGeom prst="rect">
              <a:avLst/>
            </a:prstGeom>
          </p:spPr>
          <p:txBody>
            <a:bodyPr anchor="t" rtlCol="false" tIns="0" lIns="0" bIns="0" rIns="0">
              <a:spAutoFit/>
            </a:bodyPr>
            <a:lstStyle/>
            <a:p>
              <a:pPr algn="l" marL="0" indent="0" lvl="0">
                <a:lnSpc>
                  <a:spcPts val="5113"/>
                </a:lnSpc>
                <a:spcBef>
                  <a:spcPct val="0"/>
                </a:spcBef>
              </a:pPr>
            </a:p>
          </p:txBody>
        </p:sp>
      </p:grpSp>
      <p:sp>
        <p:nvSpPr>
          <p:cNvPr name="TextBox 5" id="5"/>
          <p:cNvSpPr txBox="true"/>
          <p:nvPr/>
        </p:nvSpPr>
        <p:spPr>
          <a:xfrm rot="0">
            <a:off x="394844" y="8819515"/>
            <a:ext cx="11450867" cy="438785"/>
          </a:xfrm>
          <a:prstGeom prst="rect">
            <a:avLst/>
          </a:prstGeom>
        </p:spPr>
        <p:txBody>
          <a:bodyPr anchor="t" rtlCol="false" tIns="0" lIns="0" bIns="0" rIns="0">
            <a:spAutoFit/>
          </a:bodyPr>
          <a:lstStyle/>
          <a:p>
            <a:pPr algn="l" marL="0" indent="0" lvl="0">
              <a:lnSpc>
                <a:spcPts val="3640"/>
              </a:lnSpc>
            </a:pPr>
            <a:r>
              <a:rPr lang="en-US" sz="2600">
                <a:solidFill>
                  <a:srgbClr val="F1F4F8"/>
                </a:solidFill>
                <a:latin typeface="TT Fors"/>
                <a:ea typeface="TT Fors"/>
                <a:cs typeface="TT Fors"/>
                <a:sym typeface="TT Fors"/>
              </a:rPr>
              <a:t>TEAM MEMBERS [ VARA PRASAD, HEMANTH, KATYAYANI, HARSHITHA ]</a:t>
            </a:r>
          </a:p>
        </p:txBody>
      </p:sp>
      <p:grpSp>
        <p:nvGrpSpPr>
          <p:cNvPr name="Group 6" id="6"/>
          <p:cNvGrpSpPr/>
          <p:nvPr/>
        </p:nvGrpSpPr>
        <p:grpSpPr>
          <a:xfrm rot="0">
            <a:off x="12412657" y="7270765"/>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0" id="10"/>
          <p:cNvSpPr txBox="true"/>
          <p:nvPr/>
        </p:nvSpPr>
        <p:spPr>
          <a:xfrm rot="0">
            <a:off x="1009621" y="4652327"/>
            <a:ext cx="4230158" cy="887095"/>
          </a:xfrm>
          <a:prstGeom prst="rect">
            <a:avLst/>
          </a:prstGeom>
        </p:spPr>
        <p:txBody>
          <a:bodyPr anchor="t" rtlCol="false" tIns="0" lIns="0" bIns="0" rIns="0">
            <a:spAutoFit/>
          </a:bodyPr>
          <a:lstStyle/>
          <a:p>
            <a:pPr algn="ctr">
              <a:lnSpc>
                <a:spcPts val="7279"/>
              </a:lnSpc>
            </a:pPr>
            <a:r>
              <a:rPr lang="en-US" sz="5199">
                <a:solidFill>
                  <a:srgbClr val="F1F4F8"/>
                </a:solidFill>
                <a:latin typeface="TT Fors"/>
                <a:ea typeface="TT Fors"/>
                <a:cs typeface="TT Fors"/>
                <a:sym typeface="TT Fors"/>
              </a:rPr>
              <a:t>C++ 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554732" y="4452349"/>
            <a:ext cx="12644643" cy="4482560"/>
            <a:chOff x="0" y="0"/>
            <a:chExt cx="2601778" cy="922338"/>
          </a:xfrm>
        </p:grpSpPr>
        <p:sp>
          <p:nvSpPr>
            <p:cNvPr name="Freeform 3" id="3"/>
            <p:cNvSpPr/>
            <p:nvPr/>
          </p:nvSpPr>
          <p:spPr>
            <a:xfrm flipH="false" flipV="false" rot="0">
              <a:off x="0" y="0"/>
              <a:ext cx="2601778" cy="922338"/>
            </a:xfrm>
            <a:custGeom>
              <a:avLst/>
              <a:gdLst/>
              <a:ahLst/>
              <a:cxnLst/>
              <a:rect r="r" b="b" t="t" l="l"/>
              <a:pathLst>
                <a:path h="922338" w="2601778">
                  <a:moveTo>
                    <a:pt x="11958" y="0"/>
                  </a:moveTo>
                  <a:lnTo>
                    <a:pt x="2589820" y="0"/>
                  </a:lnTo>
                  <a:cubicBezTo>
                    <a:pt x="2592992" y="0"/>
                    <a:pt x="2596033" y="1260"/>
                    <a:pt x="2598276" y="3503"/>
                  </a:cubicBezTo>
                  <a:cubicBezTo>
                    <a:pt x="2600519" y="5745"/>
                    <a:pt x="2601778" y="8787"/>
                    <a:pt x="2601778" y="11958"/>
                  </a:cubicBezTo>
                  <a:lnTo>
                    <a:pt x="2601778" y="910379"/>
                  </a:lnTo>
                  <a:cubicBezTo>
                    <a:pt x="2601778" y="916984"/>
                    <a:pt x="2596424" y="922338"/>
                    <a:pt x="2589820" y="922338"/>
                  </a:cubicBezTo>
                  <a:lnTo>
                    <a:pt x="11958" y="922338"/>
                  </a:lnTo>
                  <a:cubicBezTo>
                    <a:pt x="5354" y="922338"/>
                    <a:pt x="0" y="916984"/>
                    <a:pt x="0" y="910379"/>
                  </a:cubicBezTo>
                  <a:lnTo>
                    <a:pt x="0" y="11958"/>
                  </a:lnTo>
                  <a:cubicBezTo>
                    <a:pt x="0" y="5354"/>
                    <a:pt x="5354" y="0"/>
                    <a:pt x="11958" y="0"/>
                  </a:cubicBezTo>
                  <a:close/>
                </a:path>
              </a:pathLst>
            </a:custGeom>
            <a:gradFill rotWithShape="true">
              <a:gsLst>
                <a:gs pos="0">
                  <a:srgbClr val="000000">
                    <a:alpha val="80000"/>
                  </a:srgbClr>
                </a:gs>
                <a:gs pos="100000">
                  <a:srgbClr val="3533CD">
                    <a:alpha val="80000"/>
                  </a:srgbClr>
                </a:gs>
              </a:gsLst>
              <a:lin ang="0"/>
            </a:gradFill>
          </p:spPr>
        </p:sp>
        <p:sp>
          <p:nvSpPr>
            <p:cNvPr name="TextBox 4" id="4"/>
            <p:cNvSpPr txBox="true"/>
            <p:nvPr/>
          </p:nvSpPr>
          <p:spPr>
            <a:xfrm>
              <a:off x="0" y="-47625"/>
              <a:ext cx="2601778" cy="969963"/>
            </a:xfrm>
            <a:prstGeom prst="rect">
              <a:avLst/>
            </a:prstGeom>
          </p:spPr>
          <p:txBody>
            <a:bodyPr anchor="ctr" rtlCol="false" tIns="50800" lIns="50800" bIns="50800" rIns="50800"/>
            <a:lstStyle/>
            <a:p>
              <a:pPr algn="ctr">
                <a:lnSpc>
                  <a:spcPts val="3640"/>
                </a:lnSpc>
              </a:pPr>
            </a:p>
          </p:txBody>
        </p:sp>
      </p:grpSp>
      <p:grpSp>
        <p:nvGrpSpPr>
          <p:cNvPr name="Group 5" id="5"/>
          <p:cNvGrpSpPr/>
          <p:nvPr/>
        </p:nvGrpSpPr>
        <p:grpSpPr>
          <a:xfrm rot="0">
            <a:off x="666750" y="834778"/>
            <a:ext cx="16592550" cy="7469430"/>
            <a:chOff x="0" y="0"/>
            <a:chExt cx="22123400" cy="9959240"/>
          </a:xfrm>
        </p:grpSpPr>
        <p:sp>
          <p:nvSpPr>
            <p:cNvPr name="TextBox 6" id="6"/>
            <p:cNvSpPr txBox="true"/>
            <p:nvPr/>
          </p:nvSpPr>
          <p:spPr>
            <a:xfrm rot="0">
              <a:off x="0" y="-9525"/>
              <a:ext cx="22123400" cy="4399090"/>
            </a:xfrm>
            <a:prstGeom prst="rect">
              <a:avLst/>
            </a:prstGeom>
          </p:spPr>
          <p:txBody>
            <a:bodyPr anchor="t" rtlCol="false" tIns="0" lIns="0" bIns="0" rIns="0">
              <a:spAutoFit/>
            </a:bodyPr>
            <a:lstStyle/>
            <a:p>
              <a:pPr algn="l" marL="0" indent="0" lvl="0">
                <a:lnSpc>
                  <a:spcPts val="11850"/>
                </a:lnSpc>
                <a:spcBef>
                  <a:spcPct val="0"/>
                </a:spcBef>
              </a:pPr>
              <a:r>
                <a:rPr lang="en-US" sz="11850" spc="-355" strike="noStrike" u="none">
                  <a:solidFill>
                    <a:srgbClr val="F1F4F8"/>
                  </a:solidFill>
                  <a:latin typeface="ITC Avant Garde Gothic"/>
                  <a:ea typeface="ITC Avant Garde Gothic"/>
                  <a:cs typeface="ITC Avant Garde Gothic"/>
                  <a:sym typeface="ITC Avant Garde Gothic"/>
                </a:rPr>
                <a:t>Introduction to Calculator </a:t>
              </a:r>
            </a:p>
          </p:txBody>
        </p:sp>
        <p:sp>
          <p:nvSpPr>
            <p:cNvPr name="TextBox 7" id="7"/>
            <p:cNvSpPr txBox="true"/>
            <p:nvPr/>
          </p:nvSpPr>
          <p:spPr>
            <a:xfrm rot="0">
              <a:off x="0" y="7063178"/>
              <a:ext cx="16442051" cy="2896062"/>
            </a:xfrm>
            <a:prstGeom prst="rect">
              <a:avLst/>
            </a:prstGeom>
          </p:spPr>
          <p:txBody>
            <a:bodyPr anchor="t" rtlCol="false" tIns="0" lIns="0" bIns="0" rIns="0">
              <a:spAutoFit/>
            </a:bodyPr>
            <a:lstStyle/>
            <a:p>
              <a:pPr algn="l" marL="0" indent="0" lvl="0">
                <a:lnSpc>
                  <a:spcPts val="4354"/>
                </a:lnSpc>
              </a:pPr>
              <a:r>
                <a:rPr lang="en-US" sz="3110">
                  <a:solidFill>
                    <a:srgbClr val="F1F4F8"/>
                  </a:solidFill>
                  <a:latin typeface="TT Fors"/>
                  <a:ea typeface="TT Fors"/>
                  <a:cs typeface="TT Fors"/>
                  <a:sym typeface="TT Fors"/>
                </a:rPr>
                <a:t>A calculator is a tool designed to perform arithmetic and complex mathematical operations. This project involves building a command-line calculator in C++ that supports basic operations, providing a simple and efficient user interface.</a:t>
              </a:r>
            </a:p>
          </p:txBody>
        </p:sp>
        <p:sp>
          <p:nvSpPr>
            <p:cNvPr name="TextBox 8" id="8"/>
            <p:cNvSpPr txBox="true"/>
            <p:nvPr/>
          </p:nvSpPr>
          <p:spPr>
            <a:xfrm rot="0">
              <a:off x="0" y="5305101"/>
              <a:ext cx="19282725" cy="959433"/>
            </a:xfrm>
            <a:prstGeom prst="rect">
              <a:avLst/>
            </a:prstGeom>
          </p:spPr>
          <p:txBody>
            <a:bodyPr anchor="t" rtlCol="false" tIns="0" lIns="0" bIns="0" rIns="0">
              <a:spAutoFit/>
            </a:bodyPr>
            <a:lstStyle/>
            <a:p>
              <a:pPr algn="l" marL="0" indent="0" lvl="0">
                <a:lnSpc>
                  <a:spcPts val="5688"/>
                </a:lnSpc>
                <a:spcBef>
                  <a:spcPct val="0"/>
                </a:spcBef>
              </a:pPr>
              <a:r>
                <a:rPr lang="en-US" sz="4740" spc="-142">
                  <a:solidFill>
                    <a:srgbClr val="F1F4F8"/>
                  </a:solidFill>
                  <a:latin typeface="TT Fors"/>
                  <a:ea typeface="TT Fors"/>
                  <a:cs typeface="TT Fors"/>
                  <a:sym typeface="TT Fors"/>
                </a:rPr>
                <a:t>Understanding the Calculator Application</a:t>
              </a:r>
            </a:p>
          </p:txBody>
        </p:sp>
      </p:grpSp>
      <p:grpSp>
        <p:nvGrpSpPr>
          <p:cNvPr name="Group 9" id="9"/>
          <p:cNvGrpSpPr/>
          <p:nvPr/>
        </p:nvGrpSpPr>
        <p:grpSpPr>
          <a:xfrm rot="0">
            <a:off x="14744700" y="7829550"/>
            <a:ext cx="4846643" cy="1791955"/>
            <a:chOff x="0" y="0"/>
            <a:chExt cx="6462190" cy="2389273"/>
          </a:xfrm>
        </p:grpSpPr>
        <p:sp>
          <p:nvSpPr>
            <p:cNvPr name="Freeform 10" id="10"/>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29411" y="3724229"/>
            <a:ext cx="14115289" cy="4482560"/>
            <a:chOff x="0" y="0"/>
            <a:chExt cx="2904381" cy="922338"/>
          </a:xfrm>
        </p:grpSpPr>
        <p:sp>
          <p:nvSpPr>
            <p:cNvPr name="Freeform 3" id="3"/>
            <p:cNvSpPr/>
            <p:nvPr/>
          </p:nvSpPr>
          <p:spPr>
            <a:xfrm flipH="false" flipV="false" rot="0">
              <a:off x="0" y="0"/>
              <a:ext cx="2904380" cy="922338"/>
            </a:xfrm>
            <a:custGeom>
              <a:avLst/>
              <a:gdLst/>
              <a:ahLst/>
              <a:cxnLst/>
              <a:rect r="r" b="b" t="t" l="l"/>
              <a:pathLst>
                <a:path h="922338" w="2904380">
                  <a:moveTo>
                    <a:pt x="10712" y="0"/>
                  </a:moveTo>
                  <a:lnTo>
                    <a:pt x="2893668" y="0"/>
                  </a:lnTo>
                  <a:cubicBezTo>
                    <a:pt x="2899584" y="0"/>
                    <a:pt x="2904380" y="4796"/>
                    <a:pt x="2904380" y="10712"/>
                  </a:cubicBezTo>
                  <a:lnTo>
                    <a:pt x="2904380" y="911625"/>
                  </a:lnTo>
                  <a:cubicBezTo>
                    <a:pt x="2904380" y="917541"/>
                    <a:pt x="2899584" y="922338"/>
                    <a:pt x="2893668" y="922338"/>
                  </a:cubicBezTo>
                  <a:lnTo>
                    <a:pt x="10712" y="922338"/>
                  </a:lnTo>
                  <a:cubicBezTo>
                    <a:pt x="4796" y="922338"/>
                    <a:pt x="0" y="917541"/>
                    <a:pt x="0" y="911625"/>
                  </a:cubicBezTo>
                  <a:lnTo>
                    <a:pt x="0" y="10712"/>
                  </a:lnTo>
                  <a:cubicBezTo>
                    <a:pt x="0" y="4796"/>
                    <a:pt x="4796" y="0"/>
                    <a:pt x="10712" y="0"/>
                  </a:cubicBezTo>
                  <a:close/>
                </a:path>
              </a:pathLst>
            </a:custGeom>
            <a:gradFill rotWithShape="true">
              <a:gsLst>
                <a:gs pos="0">
                  <a:srgbClr val="000000">
                    <a:alpha val="80000"/>
                  </a:srgbClr>
                </a:gs>
                <a:gs pos="100000">
                  <a:srgbClr val="3533CD">
                    <a:alpha val="80000"/>
                  </a:srgbClr>
                </a:gs>
              </a:gsLst>
              <a:lin ang="0"/>
            </a:gradFill>
          </p:spPr>
        </p:sp>
        <p:sp>
          <p:nvSpPr>
            <p:cNvPr name="TextBox 4" id="4"/>
            <p:cNvSpPr txBox="true"/>
            <p:nvPr/>
          </p:nvSpPr>
          <p:spPr>
            <a:xfrm>
              <a:off x="0" y="-47625"/>
              <a:ext cx="2904381" cy="969963"/>
            </a:xfrm>
            <a:prstGeom prst="rect">
              <a:avLst/>
            </a:prstGeom>
          </p:spPr>
          <p:txBody>
            <a:bodyPr anchor="ctr" rtlCol="false" tIns="50800" lIns="50800" bIns="50800" rIns="50800"/>
            <a:lstStyle/>
            <a:p>
              <a:pPr algn="ctr">
                <a:lnSpc>
                  <a:spcPts val="3640"/>
                </a:lnSpc>
              </a:pPr>
            </a:p>
          </p:txBody>
        </p:sp>
      </p:grpSp>
      <p:sp>
        <p:nvSpPr>
          <p:cNvPr name="TextBox 5" id="5"/>
          <p:cNvSpPr txBox="true"/>
          <p:nvPr/>
        </p:nvSpPr>
        <p:spPr>
          <a:xfrm rot="0">
            <a:off x="629411" y="153221"/>
            <a:ext cx="17325795" cy="3437659"/>
          </a:xfrm>
          <a:prstGeom prst="rect">
            <a:avLst/>
          </a:prstGeom>
        </p:spPr>
        <p:txBody>
          <a:bodyPr anchor="t" rtlCol="false" tIns="0" lIns="0" bIns="0" rIns="0">
            <a:spAutoFit/>
          </a:bodyPr>
          <a:lstStyle/>
          <a:p>
            <a:pPr algn="l" marL="0" indent="0" lvl="0">
              <a:lnSpc>
                <a:spcPts val="12374"/>
              </a:lnSpc>
              <a:spcBef>
                <a:spcPct val="0"/>
              </a:spcBef>
            </a:pPr>
            <a:r>
              <a:rPr lang="en-US" sz="12374" spc="-371">
                <a:solidFill>
                  <a:srgbClr val="F1F4F8"/>
                </a:solidFill>
                <a:latin typeface="ITC Avant Garde Gothic"/>
                <a:ea typeface="ITC Avant Garde Gothic"/>
                <a:cs typeface="ITC Avant Garde Gothic"/>
                <a:sym typeface="ITC Avant Garde Gothic"/>
              </a:rPr>
              <a:t>Importance of Calculator</a:t>
            </a:r>
          </a:p>
        </p:txBody>
      </p:sp>
      <p:sp>
        <p:nvSpPr>
          <p:cNvPr name="TextBox 6" id="6"/>
          <p:cNvSpPr txBox="true"/>
          <p:nvPr/>
        </p:nvSpPr>
        <p:spPr>
          <a:xfrm rot="0">
            <a:off x="1028700" y="5269708"/>
            <a:ext cx="13760544" cy="2425097"/>
          </a:xfrm>
          <a:prstGeom prst="rect">
            <a:avLst/>
          </a:prstGeom>
        </p:spPr>
        <p:txBody>
          <a:bodyPr anchor="t" rtlCol="false" tIns="0" lIns="0" bIns="0" rIns="0">
            <a:spAutoFit/>
          </a:bodyPr>
          <a:lstStyle/>
          <a:p>
            <a:pPr algn="l" marL="0" indent="0" lvl="0">
              <a:lnSpc>
                <a:spcPts val="4859"/>
              </a:lnSpc>
            </a:pPr>
            <a:r>
              <a:rPr lang="en-US" sz="3471">
                <a:solidFill>
                  <a:srgbClr val="F1F4F8"/>
                </a:solidFill>
                <a:latin typeface="TT Fors"/>
                <a:ea typeface="TT Fors"/>
                <a:cs typeface="TT Fors"/>
                <a:sym typeface="TT Fors"/>
              </a:rPr>
              <a:t>Calculators play a vital role in fields such as education, engineering, finance, and science. They eliminate human error, save time, and allow users to perform complex mathematical operations quickly and accurately with minimal effort.</a:t>
            </a:r>
          </a:p>
        </p:txBody>
      </p:sp>
      <p:sp>
        <p:nvSpPr>
          <p:cNvPr name="TextBox 7" id="7"/>
          <p:cNvSpPr txBox="true"/>
          <p:nvPr/>
        </p:nvSpPr>
        <p:spPr>
          <a:xfrm rot="0">
            <a:off x="1028700" y="3799702"/>
            <a:ext cx="16137938" cy="802961"/>
          </a:xfrm>
          <a:prstGeom prst="rect">
            <a:avLst/>
          </a:prstGeom>
        </p:spPr>
        <p:txBody>
          <a:bodyPr anchor="t" rtlCol="false" tIns="0" lIns="0" bIns="0" rIns="0">
            <a:spAutoFit/>
          </a:bodyPr>
          <a:lstStyle/>
          <a:p>
            <a:pPr algn="l" marL="0" indent="0" lvl="0">
              <a:lnSpc>
                <a:spcPts val="6347"/>
              </a:lnSpc>
              <a:spcBef>
                <a:spcPct val="0"/>
              </a:spcBef>
            </a:pPr>
            <a:r>
              <a:rPr lang="en-US" sz="5289" spc="-158">
                <a:solidFill>
                  <a:srgbClr val="F1F4F8"/>
                </a:solidFill>
                <a:latin typeface="TT Fors"/>
                <a:ea typeface="TT Fors"/>
                <a:cs typeface="TT Fors"/>
                <a:sym typeface="TT Fors"/>
              </a:rPr>
              <a:t>Why Calculators Matter in Daily Life</a:t>
            </a:r>
          </a:p>
        </p:txBody>
      </p:sp>
      <p:grpSp>
        <p:nvGrpSpPr>
          <p:cNvPr name="Group 8" id="8"/>
          <p:cNvGrpSpPr/>
          <p:nvPr/>
        </p:nvGrpSpPr>
        <p:grpSpPr>
          <a:xfrm rot="0">
            <a:off x="14744700" y="7829550"/>
            <a:ext cx="4846643" cy="1791955"/>
            <a:chOff x="0" y="0"/>
            <a:chExt cx="6462190" cy="2389273"/>
          </a:xfrm>
        </p:grpSpPr>
        <p:sp>
          <p:nvSpPr>
            <p:cNvPr name="Freeform 9" id="9"/>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85420" y="4347574"/>
            <a:ext cx="8087033" cy="4482560"/>
            <a:chOff x="0" y="0"/>
            <a:chExt cx="1663999" cy="922338"/>
          </a:xfrm>
        </p:grpSpPr>
        <p:sp>
          <p:nvSpPr>
            <p:cNvPr name="Freeform 3" id="3"/>
            <p:cNvSpPr/>
            <p:nvPr/>
          </p:nvSpPr>
          <p:spPr>
            <a:xfrm flipH="false" flipV="false" rot="0">
              <a:off x="0" y="0"/>
              <a:ext cx="1663999" cy="922338"/>
            </a:xfrm>
            <a:custGeom>
              <a:avLst/>
              <a:gdLst/>
              <a:ahLst/>
              <a:cxnLst/>
              <a:rect r="r" b="b" t="t" l="l"/>
              <a:pathLst>
                <a:path h="922338" w="1663999">
                  <a:moveTo>
                    <a:pt x="18698" y="0"/>
                  </a:moveTo>
                  <a:lnTo>
                    <a:pt x="1645301" y="0"/>
                  </a:lnTo>
                  <a:cubicBezTo>
                    <a:pt x="1655627" y="0"/>
                    <a:pt x="1663999" y="8371"/>
                    <a:pt x="1663999" y="18698"/>
                  </a:cubicBezTo>
                  <a:lnTo>
                    <a:pt x="1663999" y="903640"/>
                  </a:lnTo>
                  <a:cubicBezTo>
                    <a:pt x="1663999" y="913966"/>
                    <a:pt x="1655627" y="922338"/>
                    <a:pt x="1645301" y="922338"/>
                  </a:cubicBezTo>
                  <a:lnTo>
                    <a:pt x="18698" y="922338"/>
                  </a:lnTo>
                  <a:cubicBezTo>
                    <a:pt x="8371" y="922338"/>
                    <a:pt x="0" y="913966"/>
                    <a:pt x="0" y="903640"/>
                  </a:cubicBezTo>
                  <a:lnTo>
                    <a:pt x="0" y="18698"/>
                  </a:lnTo>
                  <a:cubicBezTo>
                    <a:pt x="0" y="8371"/>
                    <a:pt x="8371" y="0"/>
                    <a:pt x="18698" y="0"/>
                  </a:cubicBezTo>
                  <a:close/>
                </a:path>
              </a:pathLst>
            </a:custGeom>
            <a:gradFill rotWithShape="true">
              <a:gsLst>
                <a:gs pos="0">
                  <a:srgbClr val="000000">
                    <a:alpha val="80000"/>
                  </a:srgbClr>
                </a:gs>
                <a:gs pos="100000">
                  <a:srgbClr val="3533CD">
                    <a:alpha val="80000"/>
                  </a:srgbClr>
                </a:gs>
              </a:gsLst>
              <a:lin ang="0"/>
            </a:gradFill>
          </p:spPr>
        </p:sp>
        <p:sp>
          <p:nvSpPr>
            <p:cNvPr name="TextBox 4" id="4"/>
            <p:cNvSpPr txBox="true"/>
            <p:nvPr/>
          </p:nvSpPr>
          <p:spPr>
            <a:xfrm>
              <a:off x="0" y="-47625"/>
              <a:ext cx="1663999" cy="969963"/>
            </a:xfrm>
            <a:prstGeom prst="rect">
              <a:avLst/>
            </a:prstGeom>
          </p:spPr>
          <p:txBody>
            <a:bodyPr anchor="ctr" rtlCol="false" tIns="50800" lIns="50800" bIns="50800" rIns="50800"/>
            <a:lstStyle/>
            <a:p>
              <a:pPr algn="ctr">
                <a:lnSpc>
                  <a:spcPts val="3640"/>
                </a:lnSpc>
              </a:pPr>
            </a:p>
          </p:txBody>
        </p:sp>
      </p:grpSp>
      <p:grpSp>
        <p:nvGrpSpPr>
          <p:cNvPr name="Group 5" id="5"/>
          <p:cNvGrpSpPr/>
          <p:nvPr/>
        </p:nvGrpSpPr>
        <p:grpSpPr>
          <a:xfrm rot="0">
            <a:off x="1028700" y="4631553"/>
            <a:ext cx="7743753" cy="3149403"/>
            <a:chOff x="0" y="0"/>
            <a:chExt cx="10325004" cy="4199204"/>
          </a:xfrm>
        </p:grpSpPr>
        <p:sp>
          <p:nvSpPr>
            <p:cNvPr name="TextBox 6" id="6"/>
            <p:cNvSpPr txBox="true"/>
            <p:nvPr/>
          </p:nvSpPr>
          <p:spPr>
            <a:xfrm rot="0">
              <a:off x="0" y="1345195"/>
              <a:ext cx="10325004" cy="2854009"/>
            </a:xfrm>
            <a:prstGeom prst="rect">
              <a:avLst/>
            </a:prstGeom>
          </p:spPr>
          <p:txBody>
            <a:bodyPr anchor="t" rtlCol="false" tIns="0" lIns="0" bIns="0" rIns="0">
              <a:spAutoFit/>
            </a:bodyPr>
            <a:lstStyle/>
            <a:p>
              <a:pPr algn="l" marL="0" indent="0" lvl="0">
                <a:lnSpc>
                  <a:spcPts val="3430"/>
                </a:lnSpc>
              </a:pPr>
              <a:r>
                <a:rPr lang="en-US" sz="2450">
                  <a:solidFill>
                    <a:srgbClr val="F1F4F8"/>
                  </a:solidFill>
                  <a:latin typeface="TT Fors"/>
                  <a:ea typeface="TT Fors"/>
                  <a:cs typeface="TT Fors"/>
                  <a:sym typeface="TT Fors"/>
                </a:rPr>
                <a:t>The program starts and displays a menu: 1=Addition, 2=Subtraction, 3=Multiplication, 4=Division, 5=Square Root, 6=Exponent. The user enters a choice, and a switch statement processes the selected operation accordingly.</a:t>
              </a:r>
            </a:p>
          </p:txBody>
        </p:sp>
        <p:sp>
          <p:nvSpPr>
            <p:cNvPr name="TextBox 7" id="7"/>
            <p:cNvSpPr txBox="true"/>
            <p:nvPr/>
          </p:nvSpPr>
          <p:spPr>
            <a:xfrm rot="0">
              <a:off x="0" y="-123825"/>
              <a:ext cx="10325004" cy="732319"/>
            </a:xfrm>
            <a:prstGeom prst="rect">
              <a:avLst/>
            </a:prstGeom>
          </p:spPr>
          <p:txBody>
            <a:bodyPr anchor="t" rtlCol="false" tIns="0" lIns="0" bIns="0" rIns="0">
              <a:spAutoFit/>
            </a:bodyPr>
            <a:lstStyle/>
            <a:p>
              <a:pPr algn="l" marL="0" indent="0" lvl="0">
                <a:lnSpc>
                  <a:spcPts val="4246"/>
                </a:lnSpc>
                <a:spcBef>
                  <a:spcPct val="0"/>
                </a:spcBef>
              </a:pPr>
              <a:r>
                <a:rPr lang="en-US" sz="3033" spc="-91">
                  <a:solidFill>
                    <a:srgbClr val="F1F4F8"/>
                  </a:solidFill>
                  <a:latin typeface="ITC Avant Garde Gothic"/>
                  <a:ea typeface="ITC Avant Garde Gothic"/>
                  <a:cs typeface="ITC Avant Garde Gothic"/>
                  <a:sym typeface="ITC Avant Garde Gothic"/>
                </a:rPr>
                <a:t>Input &amp; Operation Selection</a:t>
              </a:r>
            </a:p>
          </p:txBody>
        </p:sp>
      </p:grpSp>
      <p:grpSp>
        <p:nvGrpSpPr>
          <p:cNvPr name="Group 8" id="8"/>
          <p:cNvGrpSpPr/>
          <p:nvPr/>
        </p:nvGrpSpPr>
        <p:grpSpPr>
          <a:xfrm rot="0">
            <a:off x="9347301" y="4347574"/>
            <a:ext cx="8087033" cy="4482560"/>
            <a:chOff x="0" y="0"/>
            <a:chExt cx="1663999" cy="922338"/>
          </a:xfrm>
        </p:grpSpPr>
        <p:sp>
          <p:nvSpPr>
            <p:cNvPr name="Freeform 9" id="9"/>
            <p:cNvSpPr/>
            <p:nvPr/>
          </p:nvSpPr>
          <p:spPr>
            <a:xfrm flipH="false" flipV="false" rot="0">
              <a:off x="0" y="0"/>
              <a:ext cx="1663999" cy="922338"/>
            </a:xfrm>
            <a:custGeom>
              <a:avLst/>
              <a:gdLst/>
              <a:ahLst/>
              <a:cxnLst/>
              <a:rect r="r" b="b" t="t" l="l"/>
              <a:pathLst>
                <a:path h="922338" w="1663999">
                  <a:moveTo>
                    <a:pt x="18698" y="0"/>
                  </a:moveTo>
                  <a:lnTo>
                    <a:pt x="1645301" y="0"/>
                  </a:lnTo>
                  <a:cubicBezTo>
                    <a:pt x="1655627" y="0"/>
                    <a:pt x="1663999" y="8371"/>
                    <a:pt x="1663999" y="18698"/>
                  </a:cubicBezTo>
                  <a:lnTo>
                    <a:pt x="1663999" y="903640"/>
                  </a:lnTo>
                  <a:cubicBezTo>
                    <a:pt x="1663999" y="913966"/>
                    <a:pt x="1655627" y="922338"/>
                    <a:pt x="1645301" y="922338"/>
                  </a:cubicBezTo>
                  <a:lnTo>
                    <a:pt x="18698" y="922338"/>
                  </a:lnTo>
                  <a:cubicBezTo>
                    <a:pt x="8371" y="922338"/>
                    <a:pt x="0" y="913966"/>
                    <a:pt x="0" y="903640"/>
                  </a:cubicBezTo>
                  <a:lnTo>
                    <a:pt x="0" y="18698"/>
                  </a:lnTo>
                  <a:cubicBezTo>
                    <a:pt x="0" y="8371"/>
                    <a:pt x="8371" y="0"/>
                    <a:pt x="18698" y="0"/>
                  </a:cubicBezTo>
                  <a:close/>
                </a:path>
              </a:pathLst>
            </a:custGeom>
            <a:gradFill rotWithShape="true">
              <a:gsLst>
                <a:gs pos="0">
                  <a:srgbClr val="000000">
                    <a:alpha val="80000"/>
                  </a:srgbClr>
                </a:gs>
                <a:gs pos="100000">
                  <a:srgbClr val="3533CD">
                    <a:alpha val="80000"/>
                  </a:srgbClr>
                </a:gs>
              </a:gsLst>
              <a:lin ang="0"/>
            </a:gradFill>
          </p:spPr>
        </p:sp>
        <p:sp>
          <p:nvSpPr>
            <p:cNvPr name="TextBox 10" id="10"/>
            <p:cNvSpPr txBox="true"/>
            <p:nvPr/>
          </p:nvSpPr>
          <p:spPr>
            <a:xfrm>
              <a:off x="0" y="-47625"/>
              <a:ext cx="1663999" cy="969963"/>
            </a:xfrm>
            <a:prstGeom prst="rect">
              <a:avLst/>
            </a:prstGeom>
          </p:spPr>
          <p:txBody>
            <a:bodyPr anchor="ctr" rtlCol="false" tIns="50800" lIns="50800" bIns="50800" rIns="50800"/>
            <a:lstStyle/>
            <a:p>
              <a:pPr algn="ctr">
                <a:lnSpc>
                  <a:spcPts val="3640"/>
                </a:lnSpc>
              </a:pPr>
            </a:p>
          </p:txBody>
        </p:sp>
      </p:grpSp>
      <p:grpSp>
        <p:nvGrpSpPr>
          <p:cNvPr name="Group 11" id="11"/>
          <p:cNvGrpSpPr/>
          <p:nvPr/>
        </p:nvGrpSpPr>
        <p:grpSpPr>
          <a:xfrm rot="0">
            <a:off x="9522336" y="4631553"/>
            <a:ext cx="7736964" cy="3149403"/>
            <a:chOff x="0" y="0"/>
            <a:chExt cx="10315952" cy="4199204"/>
          </a:xfrm>
        </p:grpSpPr>
        <p:sp>
          <p:nvSpPr>
            <p:cNvPr name="TextBox 12" id="12"/>
            <p:cNvSpPr txBox="true"/>
            <p:nvPr/>
          </p:nvSpPr>
          <p:spPr>
            <a:xfrm rot="0">
              <a:off x="0" y="1345195"/>
              <a:ext cx="10315952" cy="2854009"/>
            </a:xfrm>
            <a:prstGeom prst="rect">
              <a:avLst/>
            </a:prstGeom>
          </p:spPr>
          <p:txBody>
            <a:bodyPr anchor="t" rtlCol="false" tIns="0" lIns="0" bIns="0" rIns="0">
              <a:spAutoFit/>
            </a:bodyPr>
            <a:lstStyle/>
            <a:p>
              <a:pPr algn="l" marL="0" indent="0" lvl="0">
                <a:lnSpc>
                  <a:spcPts val="3430"/>
                </a:lnSpc>
              </a:pPr>
              <a:r>
                <a:rPr lang="en-US" sz="2450">
                  <a:solidFill>
                    <a:srgbClr val="F1F4F8"/>
                  </a:solidFill>
                  <a:latin typeface="TT Fors"/>
                  <a:ea typeface="TT Fors"/>
                  <a:cs typeface="TT Fors"/>
                  <a:sym typeface="TT Fors"/>
                </a:rPr>
                <a:t>Based on the user's choice, two numbers are taken as input (or one for Square Root). The program validates input (checks for zero in division, negative in sqrt), computes the result using built-in functions, displays the output, and stops the program.</a:t>
              </a:r>
            </a:p>
          </p:txBody>
        </p:sp>
        <p:sp>
          <p:nvSpPr>
            <p:cNvPr name="TextBox 13" id="13"/>
            <p:cNvSpPr txBox="true"/>
            <p:nvPr/>
          </p:nvSpPr>
          <p:spPr>
            <a:xfrm rot="0">
              <a:off x="0" y="-123825"/>
              <a:ext cx="10315952" cy="732319"/>
            </a:xfrm>
            <a:prstGeom prst="rect">
              <a:avLst/>
            </a:prstGeom>
          </p:spPr>
          <p:txBody>
            <a:bodyPr anchor="t" rtlCol="false" tIns="0" lIns="0" bIns="0" rIns="0">
              <a:spAutoFit/>
            </a:bodyPr>
            <a:lstStyle/>
            <a:p>
              <a:pPr algn="l" marL="0" indent="0" lvl="0">
                <a:lnSpc>
                  <a:spcPts val="4246"/>
                </a:lnSpc>
                <a:spcBef>
                  <a:spcPct val="0"/>
                </a:spcBef>
              </a:pPr>
              <a:r>
                <a:rPr lang="en-US" sz="3033" spc="-91">
                  <a:solidFill>
                    <a:srgbClr val="F1F4F8"/>
                  </a:solidFill>
                  <a:latin typeface="ITC Avant Garde Gothic"/>
                  <a:ea typeface="ITC Avant Garde Gothic"/>
                  <a:cs typeface="ITC Avant Garde Gothic"/>
                  <a:sym typeface="ITC Avant Garde Gothic"/>
                </a:rPr>
                <a:t>Compute &amp; Display Result</a:t>
              </a:r>
            </a:p>
          </p:txBody>
        </p:sp>
      </p:grpSp>
      <p:sp>
        <p:nvSpPr>
          <p:cNvPr name="TextBox 14" id="14"/>
          <p:cNvSpPr txBox="true"/>
          <p:nvPr/>
        </p:nvSpPr>
        <p:spPr>
          <a:xfrm rot="0">
            <a:off x="1028700" y="1019175"/>
            <a:ext cx="12270004" cy="1338081"/>
          </a:xfrm>
          <a:prstGeom prst="rect">
            <a:avLst/>
          </a:prstGeom>
        </p:spPr>
        <p:txBody>
          <a:bodyPr anchor="t" rtlCol="false" tIns="0" lIns="0" bIns="0" rIns="0">
            <a:spAutoFit/>
          </a:bodyPr>
          <a:lstStyle/>
          <a:p>
            <a:pPr algn="l" marL="0" indent="0" lvl="0">
              <a:lnSpc>
                <a:spcPts val="8763"/>
              </a:lnSpc>
              <a:spcBef>
                <a:spcPct val="0"/>
              </a:spcBef>
            </a:pPr>
            <a:r>
              <a:rPr lang="en-US" sz="8763" spc="-262">
                <a:solidFill>
                  <a:srgbClr val="F1F4F8"/>
                </a:solidFill>
                <a:latin typeface="ITC Avant Garde Gothic"/>
                <a:ea typeface="ITC Avant Garde Gothic"/>
                <a:cs typeface="ITC Avant Garde Gothic"/>
                <a:sym typeface="ITC Avant Garde Gothic"/>
              </a:rPr>
              <a:t>Algorithm of Calculator</a:t>
            </a:r>
          </a:p>
        </p:txBody>
      </p:sp>
      <p:sp>
        <p:nvSpPr>
          <p:cNvPr name="TextBox 15" id="15"/>
          <p:cNvSpPr txBox="true"/>
          <p:nvPr/>
        </p:nvSpPr>
        <p:spPr>
          <a:xfrm rot="0">
            <a:off x="1028700" y="2855502"/>
            <a:ext cx="11028397" cy="541643"/>
          </a:xfrm>
          <a:prstGeom prst="rect">
            <a:avLst/>
          </a:prstGeom>
        </p:spPr>
        <p:txBody>
          <a:bodyPr anchor="t" rtlCol="false" tIns="0" lIns="0" bIns="0" rIns="0">
            <a:spAutoFit/>
          </a:bodyPr>
          <a:lstStyle/>
          <a:p>
            <a:pPr algn="l" marL="0" indent="0" lvl="0">
              <a:lnSpc>
                <a:spcPts val="4206"/>
              </a:lnSpc>
              <a:spcBef>
                <a:spcPct val="0"/>
              </a:spcBef>
            </a:pPr>
            <a:r>
              <a:rPr lang="en-US" sz="3505" spc="-105">
                <a:solidFill>
                  <a:srgbClr val="9AB6D3"/>
                </a:solidFill>
                <a:latin typeface="TT Fors"/>
                <a:ea typeface="TT Fors"/>
                <a:cs typeface="TT Fors"/>
                <a:sym typeface="TT Fors"/>
              </a:rPr>
              <a:t>Step-by-step execution flow of the C++ Calculator</a:t>
            </a:r>
          </a:p>
        </p:txBody>
      </p:sp>
      <p:grpSp>
        <p:nvGrpSpPr>
          <p:cNvPr name="Group 16" id="16"/>
          <p:cNvGrpSpPr/>
          <p:nvPr/>
        </p:nvGrpSpPr>
        <p:grpSpPr>
          <a:xfrm rot="0">
            <a:off x="15430959" y="752281"/>
            <a:ext cx="2190291" cy="809819"/>
            <a:chOff x="0" y="0"/>
            <a:chExt cx="2920388" cy="1079758"/>
          </a:xfrm>
        </p:grpSpPr>
        <p:sp>
          <p:nvSpPr>
            <p:cNvPr name="Freeform 17" id="17"/>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5430959" y="752281"/>
            <a:ext cx="2190291" cy="809819"/>
            <a:chOff x="0" y="0"/>
            <a:chExt cx="2920388" cy="1079758"/>
          </a:xfrm>
        </p:grpSpPr>
        <p:sp>
          <p:nvSpPr>
            <p:cNvPr name="Freeform 3" id="3"/>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666750" y="4479812"/>
            <a:ext cx="4560651" cy="4631918"/>
            <a:chOff x="0" y="0"/>
            <a:chExt cx="938405" cy="953070"/>
          </a:xfrm>
        </p:grpSpPr>
        <p:sp>
          <p:nvSpPr>
            <p:cNvPr name="Freeform 7" id="7"/>
            <p:cNvSpPr/>
            <p:nvPr/>
          </p:nvSpPr>
          <p:spPr>
            <a:xfrm flipH="false" flipV="false" rot="0">
              <a:off x="0" y="0"/>
              <a:ext cx="938406" cy="953070"/>
            </a:xfrm>
            <a:custGeom>
              <a:avLst/>
              <a:gdLst/>
              <a:ahLst/>
              <a:cxnLst/>
              <a:rect r="r" b="b" t="t" l="l"/>
              <a:pathLst>
                <a:path h="953070" w="938406">
                  <a:moveTo>
                    <a:pt x="33155" y="0"/>
                  </a:moveTo>
                  <a:lnTo>
                    <a:pt x="905250" y="0"/>
                  </a:lnTo>
                  <a:cubicBezTo>
                    <a:pt x="923561" y="0"/>
                    <a:pt x="938406" y="14844"/>
                    <a:pt x="938406" y="33155"/>
                  </a:cubicBezTo>
                  <a:lnTo>
                    <a:pt x="938406" y="919914"/>
                  </a:lnTo>
                  <a:cubicBezTo>
                    <a:pt x="938406" y="928708"/>
                    <a:pt x="934912" y="937141"/>
                    <a:pt x="928695" y="943359"/>
                  </a:cubicBezTo>
                  <a:cubicBezTo>
                    <a:pt x="922477" y="949577"/>
                    <a:pt x="914044" y="953070"/>
                    <a:pt x="905250" y="953070"/>
                  </a:cubicBezTo>
                  <a:lnTo>
                    <a:pt x="33155" y="953070"/>
                  </a:lnTo>
                  <a:cubicBezTo>
                    <a:pt x="24362" y="953070"/>
                    <a:pt x="15929" y="949577"/>
                    <a:pt x="9711" y="943359"/>
                  </a:cubicBezTo>
                  <a:cubicBezTo>
                    <a:pt x="3493" y="937141"/>
                    <a:pt x="0" y="928708"/>
                    <a:pt x="0" y="919914"/>
                  </a:cubicBezTo>
                  <a:lnTo>
                    <a:pt x="0" y="33155"/>
                  </a:lnTo>
                  <a:cubicBezTo>
                    <a:pt x="0" y="14844"/>
                    <a:pt x="14844" y="0"/>
                    <a:pt x="33155" y="0"/>
                  </a:cubicBezTo>
                  <a:close/>
                </a:path>
              </a:pathLst>
            </a:custGeom>
            <a:gradFill rotWithShape="true">
              <a:gsLst>
                <a:gs pos="0">
                  <a:srgbClr val="000000">
                    <a:alpha val="80000"/>
                  </a:srgbClr>
                </a:gs>
                <a:gs pos="100000">
                  <a:srgbClr val="3533CD">
                    <a:alpha val="80000"/>
                  </a:srgbClr>
                </a:gs>
              </a:gsLst>
              <a:lin ang="0"/>
            </a:gradFill>
          </p:spPr>
        </p:sp>
        <p:sp>
          <p:nvSpPr>
            <p:cNvPr name="TextBox 8" id="8"/>
            <p:cNvSpPr txBox="true"/>
            <p:nvPr/>
          </p:nvSpPr>
          <p:spPr>
            <a:xfrm>
              <a:off x="0" y="-47625"/>
              <a:ext cx="938405" cy="1000695"/>
            </a:xfrm>
            <a:prstGeom prst="rect">
              <a:avLst/>
            </a:prstGeom>
          </p:spPr>
          <p:txBody>
            <a:bodyPr anchor="ctr" rtlCol="false" tIns="50800" lIns="50800" bIns="50800" rIns="50800"/>
            <a:lstStyle/>
            <a:p>
              <a:pPr algn="ctr">
                <a:lnSpc>
                  <a:spcPts val="3640"/>
                </a:lnSpc>
              </a:pPr>
            </a:p>
          </p:txBody>
        </p:sp>
      </p:grpSp>
      <p:grpSp>
        <p:nvGrpSpPr>
          <p:cNvPr name="Group 9" id="9"/>
          <p:cNvGrpSpPr/>
          <p:nvPr/>
        </p:nvGrpSpPr>
        <p:grpSpPr>
          <a:xfrm rot="0">
            <a:off x="954526" y="4904713"/>
            <a:ext cx="4194649" cy="2849903"/>
            <a:chOff x="0" y="0"/>
            <a:chExt cx="5592865" cy="3799871"/>
          </a:xfrm>
        </p:grpSpPr>
        <p:sp>
          <p:nvSpPr>
            <p:cNvPr name="TextBox 10" id="10"/>
            <p:cNvSpPr txBox="true"/>
            <p:nvPr/>
          </p:nvSpPr>
          <p:spPr>
            <a:xfrm rot="0">
              <a:off x="0" y="1224800"/>
              <a:ext cx="5592865" cy="2575072"/>
            </a:xfrm>
            <a:prstGeom prst="rect">
              <a:avLst/>
            </a:prstGeom>
          </p:spPr>
          <p:txBody>
            <a:bodyPr anchor="t" rtlCol="false" tIns="0" lIns="0" bIns="0" rIns="0">
              <a:spAutoFit/>
            </a:bodyPr>
            <a:lstStyle/>
            <a:p>
              <a:pPr algn="l" marL="0" indent="0" lvl="0">
                <a:lnSpc>
                  <a:spcPts val="3143"/>
                </a:lnSpc>
              </a:pPr>
              <a:r>
                <a:rPr lang="en-US" sz="2245">
                  <a:solidFill>
                    <a:srgbClr val="FFFFFF"/>
                  </a:solidFill>
                  <a:latin typeface="TT Fors"/>
                  <a:ea typeface="TT Fors"/>
                  <a:cs typeface="TT Fors"/>
                  <a:sym typeface="TT Fors"/>
                </a:rPr>
                <a:t>Handles all user interaction through the console. Displays the menu, accepts keyboard input, and shows results or error messages to the user.</a:t>
              </a:r>
            </a:p>
          </p:txBody>
        </p:sp>
        <p:sp>
          <p:nvSpPr>
            <p:cNvPr name="TextBox 11" id="11"/>
            <p:cNvSpPr txBox="true"/>
            <p:nvPr/>
          </p:nvSpPr>
          <p:spPr>
            <a:xfrm rot="0">
              <a:off x="0" y="-104775"/>
              <a:ext cx="5592865" cy="658314"/>
            </a:xfrm>
            <a:prstGeom prst="rect">
              <a:avLst/>
            </a:prstGeom>
          </p:spPr>
          <p:txBody>
            <a:bodyPr anchor="t" rtlCol="false" tIns="0" lIns="0" bIns="0" rIns="0">
              <a:spAutoFit/>
            </a:bodyPr>
            <a:lstStyle/>
            <a:p>
              <a:pPr algn="l" marL="0" indent="0" lvl="0">
                <a:lnSpc>
                  <a:spcPts val="3892"/>
                </a:lnSpc>
                <a:spcBef>
                  <a:spcPct val="0"/>
                </a:spcBef>
              </a:pPr>
              <a:r>
                <a:rPr lang="en-US" sz="2780" spc="-83">
                  <a:solidFill>
                    <a:srgbClr val="FFFFFF"/>
                  </a:solidFill>
                  <a:latin typeface="ITC Avant Garde Gothic"/>
                  <a:ea typeface="ITC Avant Garde Gothic"/>
                  <a:cs typeface="ITC Avant Garde Gothic"/>
                  <a:sym typeface="ITC Avant Garde Gothic"/>
                </a:rPr>
                <a:t>Presentation Layer</a:t>
              </a:r>
            </a:p>
          </p:txBody>
        </p:sp>
      </p:grpSp>
      <p:grpSp>
        <p:nvGrpSpPr>
          <p:cNvPr name="Group 12" id="12"/>
          <p:cNvGrpSpPr/>
          <p:nvPr/>
        </p:nvGrpSpPr>
        <p:grpSpPr>
          <a:xfrm rot="0">
            <a:off x="12549999" y="4479812"/>
            <a:ext cx="4709301" cy="4631918"/>
            <a:chOff x="0" y="0"/>
            <a:chExt cx="968992" cy="953070"/>
          </a:xfrm>
        </p:grpSpPr>
        <p:sp>
          <p:nvSpPr>
            <p:cNvPr name="Freeform 13" id="13"/>
            <p:cNvSpPr/>
            <p:nvPr/>
          </p:nvSpPr>
          <p:spPr>
            <a:xfrm flipH="false" flipV="false" rot="0">
              <a:off x="0" y="0"/>
              <a:ext cx="968992" cy="953070"/>
            </a:xfrm>
            <a:custGeom>
              <a:avLst/>
              <a:gdLst/>
              <a:ahLst/>
              <a:cxnLst/>
              <a:rect r="r" b="b" t="t" l="l"/>
              <a:pathLst>
                <a:path h="953070" w="968992">
                  <a:moveTo>
                    <a:pt x="32109" y="0"/>
                  </a:moveTo>
                  <a:lnTo>
                    <a:pt x="936883" y="0"/>
                  </a:lnTo>
                  <a:cubicBezTo>
                    <a:pt x="954616" y="0"/>
                    <a:pt x="968992" y="14376"/>
                    <a:pt x="968992" y="32109"/>
                  </a:cubicBezTo>
                  <a:lnTo>
                    <a:pt x="968992" y="920961"/>
                  </a:lnTo>
                  <a:cubicBezTo>
                    <a:pt x="968992" y="929477"/>
                    <a:pt x="965609" y="937644"/>
                    <a:pt x="959588" y="943665"/>
                  </a:cubicBezTo>
                  <a:cubicBezTo>
                    <a:pt x="953566" y="949687"/>
                    <a:pt x="945399" y="953070"/>
                    <a:pt x="936883" y="953070"/>
                  </a:cubicBezTo>
                  <a:lnTo>
                    <a:pt x="32109" y="953070"/>
                  </a:lnTo>
                  <a:cubicBezTo>
                    <a:pt x="23593" y="953070"/>
                    <a:pt x="15426" y="949687"/>
                    <a:pt x="9404" y="943665"/>
                  </a:cubicBezTo>
                  <a:cubicBezTo>
                    <a:pt x="3383" y="937644"/>
                    <a:pt x="0" y="929477"/>
                    <a:pt x="0" y="920961"/>
                  </a:cubicBezTo>
                  <a:lnTo>
                    <a:pt x="0" y="32109"/>
                  </a:lnTo>
                  <a:cubicBezTo>
                    <a:pt x="0" y="23593"/>
                    <a:pt x="3383" y="15426"/>
                    <a:pt x="9404" y="9404"/>
                  </a:cubicBezTo>
                  <a:cubicBezTo>
                    <a:pt x="15426" y="3383"/>
                    <a:pt x="23593" y="0"/>
                    <a:pt x="32109" y="0"/>
                  </a:cubicBezTo>
                  <a:close/>
                </a:path>
              </a:pathLst>
            </a:custGeom>
            <a:gradFill rotWithShape="true">
              <a:gsLst>
                <a:gs pos="0">
                  <a:srgbClr val="000000">
                    <a:alpha val="67000"/>
                  </a:srgbClr>
                </a:gs>
                <a:gs pos="100000">
                  <a:srgbClr val="3533CD">
                    <a:alpha val="67000"/>
                  </a:srgbClr>
                </a:gs>
              </a:gsLst>
              <a:lin ang="0"/>
            </a:gradFill>
          </p:spPr>
        </p:sp>
        <p:sp>
          <p:nvSpPr>
            <p:cNvPr name="TextBox 14" id="14"/>
            <p:cNvSpPr txBox="true"/>
            <p:nvPr/>
          </p:nvSpPr>
          <p:spPr>
            <a:xfrm>
              <a:off x="0" y="-47625"/>
              <a:ext cx="968992" cy="1000695"/>
            </a:xfrm>
            <a:prstGeom prst="rect">
              <a:avLst/>
            </a:prstGeom>
          </p:spPr>
          <p:txBody>
            <a:bodyPr anchor="ctr" rtlCol="false" tIns="50800" lIns="50800" bIns="50800" rIns="50800"/>
            <a:lstStyle/>
            <a:p>
              <a:pPr algn="ctr">
                <a:lnSpc>
                  <a:spcPts val="3640"/>
                </a:lnSpc>
              </a:pPr>
            </a:p>
          </p:txBody>
        </p:sp>
      </p:grpSp>
      <p:grpSp>
        <p:nvGrpSpPr>
          <p:cNvPr name="Group 15" id="15"/>
          <p:cNvGrpSpPr/>
          <p:nvPr/>
        </p:nvGrpSpPr>
        <p:grpSpPr>
          <a:xfrm rot="0">
            <a:off x="12881650" y="4904713"/>
            <a:ext cx="4194649" cy="3681122"/>
            <a:chOff x="0" y="0"/>
            <a:chExt cx="5592865" cy="4908162"/>
          </a:xfrm>
        </p:grpSpPr>
        <p:sp>
          <p:nvSpPr>
            <p:cNvPr name="TextBox 16" id="16"/>
            <p:cNvSpPr txBox="true"/>
            <p:nvPr/>
          </p:nvSpPr>
          <p:spPr>
            <a:xfrm rot="0">
              <a:off x="0" y="1228986"/>
              <a:ext cx="5592865" cy="3679176"/>
            </a:xfrm>
            <a:prstGeom prst="rect">
              <a:avLst/>
            </a:prstGeom>
          </p:spPr>
          <p:txBody>
            <a:bodyPr anchor="t" rtlCol="false" tIns="0" lIns="0" bIns="0" rIns="0">
              <a:spAutoFit/>
            </a:bodyPr>
            <a:lstStyle/>
            <a:p>
              <a:pPr algn="l" marL="0" indent="0" lvl="0">
                <a:lnSpc>
                  <a:spcPts val="3143"/>
                </a:lnSpc>
              </a:pPr>
              <a:r>
                <a:rPr lang="en-US" sz="2245">
                  <a:solidFill>
                    <a:srgbClr val="F1F4F8"/>
                  </a:solidFill>
                  <a:latin typeface="TT Fors"/>
                  <a:ea typeface="TT Fors"/>
                  <a:cs typeface="TT Fors"/>
                  <a:sym typeface="TT Fors"/>
                </a:rPr>
                <a:t>Contains core mathematical operations, kept independent from the UI. Includes Basic Module: add(), subtract(), multiply(), divide() and Advanced Module: squareRoot(), power().</a:t>
              </a:r>
            </a:p>
          </p:txBody>
        </p:sp>
        <p:sp>
          <p:nvSpPr>
            <p:cNvPr name="TextBox 17" id="17"/>
            <p:cNvSpPr txBox="true"/>
            <p:nvPr/>
          </p:nvSpPr>
          <p:spPr>
            <a:xfrm rot="0">
              <a:off x="0" y="-104775"/>
              <a:ext cx="5592865" cy="662500"/>
            </a:xfrm>
            <a:prstGeom prst="rect">
              <a:avLst/>
            </a:prstGeom>
          </p:spPr>
          <p:txBody>
            <a:bodyPr anchor="t" rtlCol="false" tIns="0" lIns="0" bIns="0" rIns="0">
              <a:spAutoFit/>
            </a:bodyPr>
            <a:lstStyle/>
            <a:p>
              <a:pPr algn="l" marL="0" indent="0" lvl="0">
                <a:lnSpc>
                  <a:spcPts val="3892"/>
                </a:lnSpc>
                <a:spcBef>
                  <a:spcPct val="0"/>
                </a:spcBef>
              </a:pPr>
              <a:r>
                <a:rPr lang="en-US" sz="2780" spc="-83">
                  <a:solidFill>
                    <a:srgbClr val="F1F4F8"/>
                  </a:solidFill>
                  <a:latin typeface="ITC Avant Garde Gothic"/>
                  <a:ea typeface="ITC Avant Garde Gothic"/>
                  <a:cs typeface="ITC Avant Garde Gothic"/>
                  <a:sym typeface="ITC Avant Garde Gothic"/>
                </a:rPr>
                <a:t>Business Logic Layer</a:t>
              </a:r>
            </a:p>
          </p:txBody>
        </p:sp>
      </p:grpSp>
      <p:sp>
        <p:nvSpPr>
          <p:cNvPr name="TextBox 18" id="18"/>
          <p:cNvSpPr txBox="true"/>
          <p:nvPr/>
        </p:nvSpPr>
        <p:spPr>
          <a:xfrm rot="0">
            <a:off x="666750" y="657225"/>
            <a:ext cx="11201400"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1F4F8"/>
                </a:solidFill>
                <a:latin typeface="ITC Avant Garde Gothic"/>
                <a:ea typeface="ITC Avant Garde Gothic"/>
                <a:cs typeface="ITC Avant Garde Gothic"/>
                <a:sym typeface="ITC Avant Garde Gothic"/>
              </a:rPr>
              <a:t>System Architecture</a:t>
            </a:r>
          </a:p>
        </p:txBody>
      </p:sp>
      <p:sp>
        <p:nvSpPr>
          <p:cNvPr name="TextBox 19" id="19"/>
          <p:cNvSpPr txBox="true"/>
          <p:nvPr/>
        </p:nvSpPr>
        <p:spPr>
          <a:xfrm rot="0">
            <a:off x="666750" y="2693931"/>
            <a:ext cx="10067925" cy="971550"/>
          </a:xfrm>
          <a:prstGeom prst="rect">
            <a:avLst/>
          </a:prstGeom>
        </p:spPr>
        <p:txBody>
          <a:bodyPr anchor="t" rtlCol="false" tIns="0" lIns="0" bIns="0" rIns="0">
            <a:spAutoFit/>
          </a:bodyPr>
          <a:lstStyle/>
          <a:p>
            <a:pPr algn="l" marL="0" indent="0" lvl="0">
              <a:lnSpc>
                <a:spcPts val="3839"/>
              </a:lnSpc>
            </a:pPr>
            <a:r>
              <a:rPr lang="en-US" sz="3199" spc="-95">
                <a:solidFill>
                  <a:srgbClr val="9AB6D3"/>
                </a:solidFill>
                <a:latin typeface="TT Fors"/>
                <a:ea typeface="TT Fors"/>
                <a:cs typeface="TT Fors"/>
                <a:sym typeface="TT Fors"/>
              </a:rPr>
              <a:t>Layered modular design for clean separation of concerns</a:t>
            </a:r>
          </a:p>
        </p:txBody>
      </p:sp>
      <p:grpSp>
        <p:nvGrpSpPr>
          <p:cNvPr name="Group 20" id="20"/>
          <p:cNvGrpSpPr/>
          <p:nvPr/>
        </p:nvGrpSpPr>
        <p:grpSpPr>
          <a:xfrm rot="0">
            <a:off x="6379468" y="4479812"/>
            <a:ext cx="4608430" cy="4631918"/>
            <a:chOff x="0" y="0"/>
            <a:chExt cx="948237" cy="953070"/>
          </a:xfrm>
        </p:grpSpPr>
        <p:sp>
          <p:nvSpPr>
            <p:cNvPr name="Freeform 21" id="21"/>
            <p:cNvSpPr/>
            <p:nvPr/>
          </p:nvSpPr>
          <p:spPr>
            <a:xfrm flipH="false" flipV="false" rot="0">
              <a:off x="0" y="0"/>
              <a:ext cx="948237" cy="953070"/>
            </a:xfrm>
            <a:custGeom>
              <a:avLst/>
              <a:gdLst/>
              <a:ahLst/>
              <a:cxnLst/>
              <a:rect r="r" b="b" t="t" l="l"/>
              <a:pathLst>
                <a:path h="953070" w="948237">
                  <a:moveTo>
                    <a:pt x="32811" y="0"/>
                  </a:moveTo>
                  <a:lnTo>
                    <a:pt x="915425" y="0"/>
                  </a:lnTo>
                  <a:cubicBezTo>
                    <a:pt x="924127" y="0"/>
                    <a:pt x="932473" y="3457"/>
                    <a:pt x="938626" y="9610"/>
                  </a:cubicBezTo>
                  <a:cubicBezTo>
                    <a:pt x="944780" y="15764"/>
                    <a:pt x="948237" y="24109"/>
                    <a:pt x="948237" y="32811"/>
                  </a:cubicBezTo>
                  <a:lnTo>
                    <a:pt x="948237" y="920258"/>
                  </a:lnTo>
                  <a:cubicBezTo>
                    <a:pt x="948237" y="928960"/>
                    <a:pt x="944780" y="937306"/>
                    <a:pt x="938626" y="943459"/>
                  </a:cubicBezTo>
                  <a:cubicBezTo>
                    <a:pt x="932473" y="949613"/>
                    <a:pt x="924127" y="953070"/>
                    <a:pt x="915425" y="953070"/>
                  </a:cubicBezTo>
                  <a:lnTo>
                    <a:pt x="32811" y="953070"/>
                  </a:lnTo>
                  <a:cubicBezTo>
                    <a:pt x="24109" y="953070"/>
                    <a:pt x="15764" y="949613"/>
                    <a:pt x="9610" y="943459"/>
                  </a:cubicBezTo>
                  <a:cubicBezTo>
                    <a:pt x="3457" y="937306"/>
                    <a:pt x="0" y="928960"/>
                    <a:pt x="0" y="920258"/>
                  </a:cubicBezTo>
                  <a:lnTo>
                    <a:pt x="0" y="32811"/>
                  </a:lnTo>
                  <a:cubicBezTo>
                    <a:pt x="0" y="24109"/>
                    <a:pt x="3457" y="15764"/>
                    <a:pt x="9610" y="9610"/>
                  </a:cubicBezTo>
                  <a:cubicBezTo>
                    <a:pt x="15764" y="3457"/>
                    <a:pt x="24109" y="0"/>
                    <a:pt x="32811" y="0"/>
                  </a:cubicBezTo>
                  <a:close/>
                </a:path>
              </a:pathLst>
            </a:custGeom>
            <a:gradFill rotWithShape="true">
              <a:gsLst>
                <a:gs pos="0">
                  <a:srgbClr val="000000">
                    <a:alpha val="78000"/>
                  </a:srgbClr>
                </a:gs>
                <a:gs pos="100000">
                  <a:srgbClr val="3533CD">
                    <a:alpha val="78000"/>
                  </a:srgbClr>
                </a:gs>
              </a:gsLst>
              <a:lin ang="0"/>
            </a:gradFill>
          </p:spPr>
        </p:sp>
        <p:sp>
          <p:nvSpPr>
            <p:cNvPr name="TextBox 22" id="22"/>
            <p:cNvSpPr txBox="true"/>
            <p:nvPr/>
          </p:nvSpPr>
          <p:spPr>
            <a:xfrm>
              <a:off x="0" y="-47625"/>
              <a:ext cx="948237" cy="1000695"/>
            </a:xfrm>
            <a:prstGeom prst="rect">
              <a:avLst/>
            </a:prstGeom>
          </p:spPr>
          <p:txBody>
            <a:bodyPr anchor="ctr" rtlCol="false" tIns="50800" lIns="50800" bIns="50800" rIns="50800"/>
            <a:lstStyle/>
            <a:p>
              <a:pPr algn="ctr">
                <a:lnSpc>
                  <a:spcPts val="3640"/>
                </a:lnSpc>
              </a:pPr>
            </a:p>
          </p:txBody>
        </p:sp>
      </p:grpSp>
      <p:grpSp>
        <p:nvGrpSpPr>
          <p:cNvPr name="Group 23" id="23"/>
          <p:cNvGrpSpPr/>
          <p:nvPr/>
        </p:nvGrpSpPr>
        <p:grpSpPr>
          <a:xfrm rot="0">
            <a:off x="6793250" y="4706091"/>
            <a:ext cx="4194649" cy="4170037"/>
            <a:chOff x="0" y="0"/>
            <a:chExt cx="5592865" cy="5560049"/>
          </a:xfrm>
        </p:grpSpPr>
        <p:sp>
          <p:nvSpPr>
            <p:cNvPr name="TextBox 24" id="24"/>
            <p:cNvSpPr txBox="true"/>
            <p:nvPr/>
          </p:nvSpPr>
          <p:spPr>
            <a:xfrm rot="0">
              <a:off x="0" y="1880873"/>
              <a:ext cx="5592865" cy="3679176"/>
            </a:xfrm>
            <a:prstGeom prst="rect">
              <a:avLst/>
            </a:prstGeom>
          </p:spPr>
          <p:txBody>
            <a:bodyPr anchor="t" rtlCol="false" tIns="0" lIns="0" bIns="0" rIns="0">
              <a:spAutoFit/>
            </a:bodyPr>
            <a:lstStyle/>
            <a:p>
              <a:pPr algn="l" marL="0" indent="0" lvl="0">
                <a:lnSpc>
                  <a:spcPts val="3143"/>
                </a:lnSpc>
              </a:pPr>
              <a:r>
                <a:rPr lang="en-US" sz="2245">
                  <a:solidFill>
                    <a:srgbClr val="F1F4F8"/>
                  </a:solidFill>
                  <a:latin typeface="TT Fors"/>
                  <a:ea typeface="TT Fors"/>
                  <a:cs typeface="TT Fors"/>
                  <a:sym typeface="TT Fors"/>
                </a:rPr>
                <a:t>Acts as coordinator between input and computation. Reads the selected operation, validates the request flow, calls the correct calculator function, and manages overall execution sequence.</a:t>
              </a:r>
            </a:p>
          </p:txBody>
        </p:sp>
        <p:sp>
          <p:nvSpPr>
            <p:cNvPr name="TextBox 25" id="25"/>
            <p:cNvSpPr txBox="true"/>
            <p:nvPr/>
          </p:nvSpPr>
          <p:spPr>
            <a:xfrm rot="0">
              <a:off x="0" y="-104775"/>
              <a:ext cx="5592865" cy="1314387"/>
            </a:xfrm>
            <a:prstGeom prst="rect">
              <a:avLst/>
            </a:prstGeom>
          </p:spPr>
          <p:txBody>
            <a:bodyPr anchor="t" rtlCol="false" tIns="0" lIns="0" bIns="0" rIns="0">
              <a:spAutoFit/>
            </a:bodyPr>
            <a:lstStyle/>
            <a:p>
              <a:pPr algn="l" marL="0" indent="0" lvl="0">
                <a:lnSpc>
                  <a:spcPts val="3892"/>
                </a:lnSpc>
                <a:spcBef>
                  <a:spcPct val="0"/>
                </a:spcBef>
              </a:pPr>
              <a:r>
                <a:rPr lang="en-US" sz="2780" spc="-83">
                  <a:solidFill>
                    <a:srgbClr val="F1F4F8"/>
                  </a:solidFill>
                  <a:latin typeface="ITC Avant Garde Gothic"/>
                  <a:ea typeface="ITC Avant Garde Gothic"/>
                  <a:cs typeface="ITC Avant Garde Gothic"/>
                  <a:sym typeface="ITC Avant Garde Gothic"/>
                </a:rPr>
                <a:t>Application / Control Layer</a:t>
              </a:r>
            </a:p>
          </p:txBody>
        </p:sp>
      </p:grpSp>
    </p:spTree>
  </p:cSld>
  <p:clrMapOvr>
    <a:masterClrMapping/>
  </p:clrMapOvr>
  <p:transition spd="slow">
    <p:push dir="l"/>
  </p:transition>
</p:sld>
</file>

<file path=ppt/slides/slide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520880" y="825253"/>
            <a:ext cx="6886575" cy="1222376"/>
          </a:xfrm>
          <a:prstGeom prst="rect">
            <a:avLst/>
          </a:prstGeom>
        </p:spPr>
        <p:txBody>
          <a:bodyPr anchor="t" rtlCol="false" tIns="0" lIns="0" bIns="0" rIns="0">
            <a:spAutoFit/>
          </a:bodyPr>
          <a:lstStyle/>
          <a:p>
            <a:pPr algn="l" marL="0" indent="0" lvl="0">
              <a:lnSpc>
                <a:spcPts val="8000"/>
              </a:lnSpc>
              <a:spcBef>
                <a:spcPct val="0"/>
              </a:spcBef>
            </a:pPr>
            <a:r>
              <a:rPr lang="en-US" sz="8000" spc="-240">
                <a:solidFill>
                  <a:srgbClr val="F1F4F8"/>
                </a:solidFill>
                <a:latin typeface="ITC Avant Garde Gothic"/>
                <a:ea typeface="ITC Avant Garde Gothic"/>
                <a:cs typeface="ITC Avant Garde Gothic"/>
                <a:sym typeface="ITC Avant Garde Gothic"/>
              </a:rPr>
              <a:t>Source Code</a:t>
            </a:r>
          </a:p>
        </p:txBody>
      </p:sp>
      <p:sp>
        <p:nvSpPr>
          <p:cNvPr name="TextBox 3" id="3"/>
          <p:cNvSpPr txBox="true"/>
          <p:nvPr/>
        </p:nvSpPr>
        <p:spPr>
          <a:xfrm rot="0">
            <a:off x="4958449" y="2457362"/>
            <a:ext cx="11717872" cy="568255"/>
          </a:xfrm>
          <a:prstGeom prst="rect">
            <a:avLst/>
          </a:prstGeom>
        </p:spPr>
        <p:txBody>
          <a:bodyPr anchor="t" rtlCol="false" tIns="0" lIns="0" bIns="0" rIns="0">
            <a:spAutoFit/>
          </a:bodyPr>
          <a:lstStyle/>
          <a:p>
            <a:pPr algn="l" marL="0" indent="0" lvl="0">
              <a:lnSpc>
                <a:spcPts val="3964"/>
              </a:lnSpc>
              <a:spcBef>
                <a:spcPct val="0"/>
              </a:spcBef>
            </a:pPr>
            <a:r>
              <a:rPr lang="en-US" sz="3304" spc="-99">
                <a:solidFill>
                  <a:srgbClr val="9AB6D3"/>
                </a:solidFill>
                <a:latin typeface="ITC Avant Garde Gothic"/>
                <a:ea typeface="ITC Avant Garde Gothic"/>
                <a:cs typeface="ITC Avant Garde Gothic"/>
                <a:sym typeface="ITC Avant Garde Gothic"/>
              </a:rPr>
              <a:t>C++ Calculator — Core Implementation</a:t>
            </a:r>
          </a:p>
        </p:txBody>
      </p:sp>
      <p:grpSp>
        <p:nvGrpSpPr>
          <p:cNvPr name="Group 4" id="4"/>
          <p:cNvGrpSpPr/>
          <p:nvPr/>
        </p:nvGrpSpPr>
        <p:grpSpPr>
          <a:xfrm rot="0">
            <a:off x="536062" y="4423803"/>
            <a:ext cx="5176752" cy="4631918"/>
            <a:chOff x="0" y="0"/>
            <a:chExt cx="1065175" cy="953070"/>
          </a:xfrm>
        </p:grpSpPr>
        <p:sp>
          <p:nvSpPr>
            <p:cNvPr name="Freeform 5" id="5"/>
            <p:cNvSpPr/>
            <p:nvPr/>
          </p:nvSpPr>
          <p:spPr>
            <a:xfrm flipH="false" flipV="false" rot="0">
              <a:off x="0" y="0"/>
              <a:ext cx="1065175" cy="953070"/>
            </a:xfrm>
            <a:custGeom>
              <a:avLst/>
              <a:gdLst/>
              <a:ahLst/>
              <a:cxnLst/>
              <a:rect r="r" b="b" t="t" l="l"/>
              <a:pathLst>
                <a:path h="953070" w="1065175">
                  <a:moveTo>
                    <a:pt x="29209" y="0"/>
                  </a:moveTo>
                  <a:lnTo>
                    <a:pt x="1035966" y="0"/>
                  </a:lnTo>
                  <a:cubicBezTo>
                    <a:pt x="1052098" y="0"/>
                    <a:pt x="1065175" y="13077"/>
                    <a:pt x="1065175" y="29209"/>
                  </a:cubicBezTo>
                  <a:lnTo>
                    <a:pt x="1065175" y="923860"/>
                  </a:lnTo>
                  <a:cubicBezTo>
                    <a:pt x="1065175" y="931607"/>
                    <a:pt x="1062098" y="939037"/>
                    <a:pt x="1056620" y="944514"/>
                  </a:cubicBezTo>
                  <a:cubicBezTo>
                    <a:pt x="1051142" y="949992"/>
                    <a:pt x="1043713" y="953070"/>
                    <a:pt x="1035966" y="953070"/>
                  </a:cubicBezTo>
                  <a:lnTo>
                    <a:pt x="29209" y="953070"/>
                  </a:lnTo>
                  <a:cubicBezTo>
                    <a:pt x="21463" y="953070"/>
                    <a:pt x="14033" y="949992"/>
                    <a:pt x="8555" y="944514"/>
                  </a:cubicBezTo>
                  <a:cubicBezTo>
                    <a:pt x="3077" y="939037"/>
                    <a:pt x="0" y="931607"/>
                    <a:pt x="0" y="923860"/>
                  </a:cubicBezTo>
                  <a:lnTo>
                    <a:pt x="0" y="29209"/>
                  </a:lnTo>
                  <a:cubicBezTo>
                    <a:pt x="0" y="21463"/>
                    <a:pt x="3077" y="14033"/>
                    <a:pt x="8555" y="8555"/>
                  </a:cubicBezTo>
                  <a:cubicBezTo>
                    <a:pt x="14033" y="3077"/>
                    <a:pt x="21463" y="0"/>
                    <a:pt x="29209" y="0"/>
                  </a:cubicBezTo>
                  <a:close/>
                </a:path>
              </a:pathLst>
            </a:custGeom>
            <a:gradFill rotWithShape="true">
              <a:gsLst>
                <a:gs pos="0">
                  <a:srgbClr val="000000">
                    <a:alpha val="80000"/>
                  </a:srgbClr>
                </a:gs>
                <a:gs pos="100000">
                  <a:srgbClr val="3533CD">
                    <a:alpha val="80000"/>
                  </a:srgbClr>
                </a:gs>
              </a:gsLst>
              <a:lin ang="0"/>
            </a:gradFill>
          </p:spPr>
        </p:sp>
        <p:sp>
          <p:nvSpPr>
            <p:cNvPr name="TextBox 6" id="6"/>
            <p:cNvSpPr txBox="true"/>
            <p:nvPr/>
          </p:nvSpPr>
          <p:spPr>
            <a:xfrm>
              <a:off x="0" y="-47625"/>
              <a:ext cx="1065175" cy="1000695"/>
            </a:xfrm>
            <a:prstGeom prst="rect">
              <a:avLst/>
            </a:prstGeom>
          </p:spPr>
          <p:txBody>
            <a:bodyPr anchor="ctr" rtlCol="false" tIns="50800" lIns="50800" bIns="50800" rIns="50800"/>
            <a:lstStyle/>
            <a:p>
              <a:pPr algn="ctr">
                <a:lnSpc>
                  <a:spcPts val="3640"/>
                </a:lnSpc>
              </a:pPr>
            </a:p>
          </p:txBody>
        </p:sp>
      </p:grpSp>
      <p:sp>
        <p:nvSpPr>
          <p:cNvPr name="TextBox 7" id="7"/>
          <p:cNvSpPr txBox="true"/>
          <p:nvPr/>
        </p:nvSpPr>
        <p:spPr>
          <a:xfrm rot="0">
            <a:off x="397946" y="5568228"/>
            <a:ext cx="5122933" cy="3325294"/>
          </a:xfrm>
          <a:prstGeom prst="rect">
            <a:avLst/>
          </a:prstGeom>
        </p:spPr>
        <p:txBody>
          <a:bodyPr anchor="t" rtlCol="false" tIns="0" lIns="0" bIns="0" rIns="0">
            <a:spAutoFit/>
          </a:bodyPr>
          <a:lstStyle/>
          <a:p>
            <a:pPr algn="ctr">
              <a:lnSpc>
                <a:spcPts val="2632"/>
              </a:lnSpc>
            </a:pPr>
            <a:r>
              <a:rPr lang="en-US" sz="1880">
                <a:solidFill>
                  <a:srgbClr val="F1F4F8"/>
                </a:solidFill>
                <a:latin typeface="TT Fors"/>
                <a:ea typeface="TT Fors"/>
                <a:cs typeface="TT Fors"/>
                <a:sym typeface="TT Fors"/>
              </a:rPr>
              <a:t>#include&lt;iostream&gt;</a:t>
            </a:r>
          </a:p>
          <a:p>
            <a:pPr algn="ctr">
              <a:lnSpc>
                <a:spcPts val="2632"/>
              </a:lnSpc>
            </a:pPr>
            <a:r>
              <a:rPr lang="en-US" sz="1880">
                <a:solidFill>
                  <a:srgbClr val="F1F4F8"/>
                </a:solidFill>
                <a:latin typeface="TT Fors"/>
                <a:ea typeface="TT Fors"/>
                <a:cs typeface="TT Fors"/>
                <a:sym typeface="TT Fors"/>
              </a:rPr>
              <a:t>#include&lt;cmath&gt;</a:t>
            </a:r>
          </a:p>
          <a:p>
            <a:pPr algn="ctr">
              <a:lnSpc>
                <a:spcPts val="2632"/>
              </a:lnSpc>
            </a:pPr>
            <a:r>
              <a:rPr lang="en-US" sz="1880">
                <a:solidFill>
                  <a:srgbClr val="F1F4F8"/>
                </a:solidFill>
                <a:latin typeface="TT Fors"/>
                <a:ea typeface="TT Fors"/>
                <a:cs typeface="TT Fors"/>
                <a:sym typeface="TT Fors"/>
              </a:rPr>
              <a:t>double add(double a,double b){return a+b;}</a:t>
            </a:r>
          </a:p>
          <a:p>
            <a:pPr algn="ctr">
              <a:lnSpc>
                <a:spcPts val="2632"/>
              </a:lnSpc>
            </a:pPr>
            <a:r>
              <a:rPr lang="en-US" sz="1880">
                <a:solidFill>
                  <a:srgbClr val="F1F4F8"/>
                </a:solidFill>
                <a:latin typeface="TT Fors"/>
                <a:ea typeface="TT Fors"/>
                <a:cs typeface="TT Fors"/>
                <a:sym typeface="TT Fors"/>
              </a:rPr>
              <a:t>double subtract(double a,double b){return a-b;}</a:t>
            </a:r>
          </a:p>
          <a:p>
            <a:pPr algn="ctr">
              <a:lnSpc>
                <a:spcPts val="2632"/>
              </a:lnSpc>
            </a:pPr>
            <a:r>
              <a:rPr lang="en-US" sz="1880">
                <a:solidFill>
                  <a:srgbClr val="F1F4F8"/>
                </a:solidFill>
                <a:latin typeface="TT Fors"/>
                <a:ea typeface="TT Fors"/>
                <a:cs typeface="TT Fors"/>
                <a:sym typeface="TT Fors"/>
              </a:rPr>
              <a:t>double multiply(double a,double b){return a*b;}</a:t>
            </a:r>
          </a:p>
          <a:p>
            <a:pPr algn="ctr">
              <a:lnSpc>
                <a:spcPts val="2632"/>
              </a:lnSpc>
            </a:pPr>
            <a:r>
              <a:rPr lang="en-US" sz="1880">
                <a:solidFill>
                  <a:srgbClr val="F1F4F8"/>
                </a:solidFill>
                <a:latin typeface="TT Fors"/>
                <a:ea typeface="TT Fors"/>
                <a:cs typeface="TT Fors"/>
                <a:sym typeface="TT Fors"/>
              </a:rPr>
              <a:t>double divide(double a,double b){</a:t>
            </a:r>
          </a:p>
          <a:p>
            <a:pPr algn="ctr">
              <a:lnSpc>
                <a:spcPts val="2632"/>
              </a:lnSpc>
            </a:pPr>
            <a:r>
              <a:rPr lang="en-US" sz="1880">
                <a:solidFill>
                  <a:srgbClr val="F1F4F8"/>
                </a:solidFill>
                <a:latin typeface="TT Fors"/>
                <a:ea typeface="TT Fors"/>
                <a:cs typeface="TT Fors"/>
                <a:sym typeface="TT Fors"/>
              </a:rPr>
              <a:t> if(b==0) throw "Division by zero";</a:t>
            </a:r>
          </a:p>
          <a:p>
            <a:pPr algn="ctr" marL="0" indent="0" lvl="0">
              <a:lnSpc>
                <a:spcPts val="2632"/>
              </a:lnSpc>
              <a:spcBef>
                <a:spcPct val="0"/>
              </a:spcBef>
            </a:pPr>
            <a:r>
              <a:rPr lang="en-US" sz="1880">
                <a:solidFill>
                  <a:srgbClr val="F1F4F8"/>
                </a:solidFill>
                <a:latin typeface="TT Fors"/>
                <a:ea typeface="TT Fors"/>
                <a:cs typeface="TT Fors"/>
                <a:sym typeface="TT Fors"/>
              </a:rPr>
              <a:t> return a/b;}</a:t>
            </a:r>
          </a:p>
        </p:txBody>
      </p:sp>
      <p:sp>
        <p:nvSpPr>
          <p:cNvPr name="TextBox 8" id="8"/>
          <p:cNvSpPr txBox="true"/>
          <p:nvPr/>
        </p:nvSpPr>
        <p:spPr>
          <a:xfrm rot="0">
            <a:off x="536062" y="4545058"/>
            <a:ext cx="4526944" cy="585020"/>
          </a:xfrm>
          <a:prstGeom prst="rect">
            <a:avLst/>
          </a:prstGeom>
        </p:spPr>
        <p:txBody>
          <a:bodyPr anchor="t" rtlCol="false" tIns="0" lIns="0" bIns="0" rIns="0">
            <a:spAutoFit/>
          </a:bodyPr>
          <a:lstStyle/>
          <a:p>
            <a:pPr algn="ctr" marL="0" indent="0" lvl="0">
              <a:lnSpc>
                <a:spcPts val="4393"/>
              </a:lnSpc>
              <a:spcBef>
                <a:spcPct val="0"/>
              </a:spcBef>
            </a:pPr>
            <a:r>
              <a:rPr lang="en-US" sz="3137" spc="-94">
                <a:solidFill>
                  <a:srgbClr val="F1F4F8"/>
                </a:solidFill>
                <a:latin typeface="ITC Avant Garde Gothic"/>
                <a:ea typeface="ITC Avant Garde Gothic"/>
                <a:cs typeface="ITC Avant Garde Gothic"/>
                <a:sym typeface="ITC Avant Garde Gothic"/>
              </a:rPr>
              <a:t>Headers &amp; Functions</a:t>
            </a:r>
          </a:p>
        </p:txBody>
      </p:sp>
      <p:grpSp>
        <p:nvGrpSpPr>
          <p:cNvPr name="Group 9" id="9"/>
          <p:cNvGrpSpPr/>
          <p:nvPr/>
        </p:nvGrpSpPr>
        <p:grpSpPr>
          <a:xfrm rot="0">
            <a:off x="6465261" y="4423803"/>
            <a:ext cx="5305800" cy="4631918"/>
            <a:chOff x="0" y="0"/>
            <a:chExt cx="1091728" cy="953070"/>
          </a:xfrm>
        </p:grpSpPr>
        <p:sp>
          <p:nvSpPr>
            <p:cNvPr name="Freeform 10" id="10"/>
            <p:cNvSpPr/>
            <p:nvPr/>
          </p:nvSpPr>
          <p:spPr>
            <a:xfrm flipH="false" flipV="false" rot="0">
              <a:off x="0" y="0"/>
              <a:ext cx="1091728" cy="953070"/>
            </a:xfrm>
            <a:custGeom>
              <a:avLst/>
              <a:gdLst/>
              <a:ahLst/>
              <a:cxnLst/>
              <a:rect r="r" b="b" t="t" l="l"/>
              <a:pathLst>
                <a:path h="953070" w="1091728">
                  <a:moveTo>
                    <a:pt x="28499" y="0"/>
                  </a:moveTo>
                  <a:lnTo>
                    <a:pt x="1063229" y="0"/>
                  </a:lnTo>
                  <a:cubicBezTo>
                    <a:pt x="1070788" y="0"/>
                    <a:pt x="1078037" y="3003"/>
                    <a:pt x="1083381" y="8347"/>
                  </a:cubicBezTo>
                  <a:cubicBezTo>
                    <a:pt x="1088726" y="13692"/>
                    <a:pt x="1091728" y="20941"/>
                    <a:pt x="1091728" y="28499"/>
                  </a:cubicBezTo>
                  <a:lnTo>
                    <a:pt x="1091728" y="924571"/>
                  </a:lnTo>
                  <a:cubicBezTo>
                    <a:pt x="1091728" y="940310"/>
                    <a:pt x="1078969" y="953070"/>
                    <a:pt x="1063229" y="953070"/>
                  </a:cubicBezTo>
                  <a:lnTo>
                    <a:pt x="28499" y="953070"/>
                  </a:lnTo>
                  <a:cubicBezTo>
                    <a:pt x="12759" y="953070"/>
                    <a:pt x="0" y="940310"/>
                    <a:pt x="0" y="924571"/>
                  </a:cubicBezTo>
                  <a:lnTo>
                    <a:pt x="0" y="28499"/>
                  </a:lnTo>
                  <a:cubicBezTo>
                    <a:pt x="0" y="12759"/>
                    <a:pt x="12759" y="0"/>
                    <a:pt x="28499" y="0"/>
                  </a:cubicBezTo>
                  <a:close/>
                </a:path>
              </a:pathLst>
            </a:custGeom>
            <a:gradFill rotWithShape="true">
              <a:gsLst>
                <a:gs pos="0">
                  <a:srgbClr val="000000">
                    <a:alpha val="80000"/>
                  </a:srgbClr>
                </a:gs>
                <a:gs pos="100000">
                  <a:srgbClr val="3533CD">
                    <a:alpha val="80000"/>
                  </a:srgbClr>
                </a:gs>
              </a:gsLst>
              <a:lin ang="0"/>
            </a:gradFill>
          </p:spPr>
        </p:sp>
        <p:sp>
          <p:nvSpPr>
            <p:cNvPr name="TextBox 11" id="11"/>
            <p:cNvSpPr txBox="true"/>
            <p:nvPr/>
          </p:nvSpPr>
          <p:spPr>
            <a:xfrm>
              <a:off x="0" y="-47625"/>
              <a:ext cx="1091728" cy="1000695"/>
            </a:xfrm>
            <a:prstGeom prst="rect">
              <a:avLst/>
            </a:prstGeom>
          </p:spPr>
          <p:txBody>
            <a:bodyPr anchor="ctr" rtlCol="false" tIns="50800" lIns="50800" bIns="50800" rIns="50800"/>
            <a:lstStyle/>
            <a:p>
              <a:pPr algn="ctr">
                <a:lnSpc>
                  <a:spcPts val="3640"/>
                </a:lnSpc>
              </a:pPr>
            </a:p>
          </p:txBody>
        </p:sp>
      </p:grpSp>
      <p:sp>
        <p:nvSpPr>
          <p:cNvPr name="TextBox 12" id="12"/>
          <p:cNvSpPr txBox="true"/>
          <p:nvPr/>
        </p:nvSpPr>
        <p:spPr>
          <a:xfrm rot="0">
            <a:off x="7290940" y="5464023"/>
            <a:ext cx="3911555" cy="3429498"/>
          </a:xfrm>
          <a:prstGeom prst="rect">
            <a:avLst/>
          </a:prstGeom>
        </p:spPr>
        <p:txBody>
          <a:bodyPr anchor="t" rtlCol="false" tIns="0" lIns="0" bIns="0" rIns="0">
            <a:spAutoFit/>
          </a:bodyPr>
          <a:lstStyle/>
          <a:p>
            <a:pPr algn="ctr">
              <a:lnSpc>
                <a:spcPts val="2723"/>
              </a:lnSpc>
            </a:pPr>
            <a:r>
              <a:rPr lang="en-US" sz="1945">
                <a:solidFill>
                  <a:srgbClr val="F1F4F8"/>
                </a:solidFill>
                <a:latin typeface="TT Fors"/>
                <a:ea typeface="TT Fors"/>
                <a:cs typeface="TT Fors"/>
                <a:sym typeface="TT Fors"/>
              </a:rPr>
              <a:t>double squareRoot(double a){</a:t>
            </a:r>
          </a:p>
          <a:p>
            <a:pPr algn="ctr">
              <a:lnSpc>
                <a:spcPts val="2723"/>
              </a:lnSpc>
            </a:pPr>
            <a:r>
              <a:rPr lang="en-US" sz="1945">
                <a:solidFill>
                  <a:srgbClr val="F1F4F8"/>
                </a:solidFill>
                <a:latin typeface="TT Fors"/>
                <a:ea typeface="TT Fors"/>
                <a:cs typeface="TT Fors"/>
                <a:sym typeface="TT Fors"/>
              </a:rPr>
              <a:t> if(a&lt;0) throw "Invalid";</a:t>
            </a:r>
          </a:p>
          <a:p>
            <a:pPr algn="ctr">
              <a:lnSpc>
                <a:spcPts val="2723"/>
              </a:lnSpc>
            </a:pPr>
            <a:r>
              <a:rPr lang="en-US" sz="1945">
                <a:solidFill>
                  <a:srgbClr val="F1F4F8"/>
                </a:solidFill>
                <a:latin typeface="TT Fors"/>
                <a:ea typeface="TT Fors"/>
                <a:cs typeface="TT Fors"/>
                <a:sym typeface="TT Fors"/>
              </a:rPr>
              <a:t> return sqrt(a);}</a:t>
            </a:r>
          </a:p>
          <a:p>
            <a:pPr algn="ctr">
              <a:lnSpc>
                <a:spcPts val="2723"/>
              </a:lnSpc>
            </a:pPr>
            <a:r>
              <a:rPr lang="en-US" sz="1945">
                <a:solidFill>
                  <a:srgbClr val="F1F4F8"/>
                </a:solidFill>
                <a:latin typeface="TT Fors"/>
                <a:ea typeface="TT Fors"/>
                <a:cs typeface="TT Fors"/>
                <a:sym typeface="TT Fors"/>
              </a:rPr>
              <a:t>double power(double base,double exp){</a:t>
            </a:r>
          </a:p>
          <a:p>
            <a:pPr algn="ctr">
              <a:lnSpc>
                <a:spcPts val="2723"/>
              </a:lnSpc>
            </a:pPr>
            <a:r>
              <a:rPr lang="en-US" sz="1945">
                <a:solidFill>
                  <a:srgbClr val="F1F4F8"/>
                </a:solidFill>
                <a:latin typeface="TT Fors"/>
                <a:ea typeface="TT Fors"/>
                <a:cs typeface="TT Fors"/>
                <a:sym typeface="TT Fors"/>
              </a:rPr>
              <a:t> return pow(base,exp);}</a:t>
            </a:r>
          </a:p>
          <a:p>
            <a:pPr algn="ctr">
              <a:lnSpc>
                <a:spcPts val="2723"/>
              </a:lnSpc>
            </a:pPr>
            <a:r>
              <a:rPr lang="en-US" sz="1945">
                <a:solidFill>
                  <a:srgbClr val="F1F4F8"/>
                </a:solidFill>
                <a:latin typeface="TT Fors"/>
                <a:ea typeface="TT Fors"/>
                <a:cs typeface="TT Fors"/>
                <a:sym typeface="TT Fors"/>
              </a:rPr>
              <a:t>void showMenu(){</a:t>
            </a:r>
          </a:p>
          <a:p>
            <a:pPr algn="ctr">
              <a:lnSpc>
                <a:spcPts val="2723"/>
              </a:lnSpc>
            </a:pPr>
            <a:r>
              <a:rPr lang="en-US" sz="1945">
                <a:solidFill>
                  <a:srgbClr val="F1F4F8"/>
                </a:solidFill>
                <a:latin typeface="TT Fors"/>
                <a:ea typeface="TT Fors"/>
                <a:cs typeface="TT Fors"/>
                <a:sym typeface="TT Fors"/>
              </a:rPr>
              <a:t> cout&lt;&lt;"1.Add 2.Subtract"</a:t>
            </a:r>
          </a:p>
          <a:p>
            <a:pPr algn="ctr">
              <a:lnSpc>
                <a:spcPts val="2723"/>
              </a:lnSpc>
            </a:pPr>
            <a:r>
              <a:rPr lang="en-US" sz="1945">
                <a:solidFill>
                  <a:srgbClr val="F1F4F8"/>
                </a:solidFill>
                <a:latin typeface="TT Fors"/>
                <a:ea typeface="TT Fors"/>
                <a:cs typeface="TT Fors"/>
                <a:sym typeface="TT Fors"/>
              </a:rPr>
              <a:t>     &lt;&lt;"3.Multiply 4.Divide"</a:t>
            </a:r>
          </a:p>
          <a:p>
            <a:pPr algn="ctr" marL="0" indent="0" lvl="0">
              <a:lnSpc>
                <a:spcPts val="2723"/>
              </a:lnSpc>
              <a:spcBef>
                <a:spcPct val="0"/>
              </a:spcBef>
            </a:pPr>
            <a:r>
              <a:rPr lang="en-US" sz="1945">
                <a:solidFill>
                  <a:srgbClr val="F1F4F8"/>
                </a:solidFill>
                <a:latin typeface="TT Fors"/>
                <a:ea typeface="TT Fors"/>
                <a:cs typeface="TT Fors"/>
                <a:sym typeface="TT Fors"/>
              </a:rPr>
              <a:t>     &lt;&lt;"5.Sqrt 6.Power 0.Exit";}</a:t>
            </a:r>
          </a:p>
        </p:txBody>
      </p:sp>
      <p:sp>
        <p:nvSpPr>
          <p:cNvPr name="TextBox 13" id="13"/>
          <p:cNvSpPr txBox="true"/>
          <p:nvPr/>
        </p:nvSpPr>
        <p:spPr>
          <a:xfrm rot="0">
            <a:off x="6593818" y="4526627"/>
            <a:ext cx="5305800" cy="612356"/>
          </a:xfrm>
          <a:prstGeom prst="rect">
            <a:avLst/>
          </a:prstGeom>
        </p:spPr>
        <p:txBody>
          <a:bodyPr anchor="t" rtlCol="false" tIns="0" lIns="0" bIns="0" rIns="0">
            <a:spAutoFit/>
          </a:bodyPr>
          <a:lstStyle/>
          <a:p>
            <a:pPr algn="ctr" marL="0" indent="0" lvl="0">
              <a:lnSpc>
                <a:spcPts val="4573"/>
              </a:lnSpc>
              <a:spcBef>
                <a:spcPct val="0"/>
              </a:spcBef>
            </a:pPr>
            <a:r>
              <a:rPr lang="en-US" sz="3266" spc="-97">
                <a:solidFill>
                  <a:srgbClr val="F1F4F8"/>
                </a:solidFill>
                <a:latin typeface="ITC Avant Garde Gothic"/>
                <a:ea typeface="ITC Avant Garde Gothic"/>
                <a:cs typeface="ITC Avant Garde Gothic"/>
                <a:sym typeface="ITC Avant Garde Gothic"/>
              </a:rPr>
              <a:t>Advanced &amp; Menu</a:t>
            </a:r>
          </a:p>
        </p:txBody>
      </p:sp>
      <p:grpSp>
        <p:nvGrpSpPr>
          <p:cNvPr name="Group 14" id="14"/>
          <p:cNvGrpSpPr/>
          <p:nvPr/>
        </p:nvGrpSpPr>
        <p:grpSpPr>
          <a:xfrm rot="0">
            <a:off x="12386607" y="4423803"/>
            <a:ext cx="5305800" cy="4631918"/>
            <a:chOff x="0" y="0"/>
            <a:chExt cx="1091728" cy="953070"/>
          </a:xfrm>
        </p:grpSpPr>
        <p:sp>
          <p:nvSpPr>
            <p:cNvPr name="Freeform 15" id="15"/>
            <p:cNvSpPr/>
            <p:nvPr/>
          </p:nvSpPr>
          <p:spPr>
            <a:xfrm flipH="false" flipV="false" rot="0">
              <a:off x="0" y="0"/>
              <a:ext cx="1091728" cy="953070"/>
            </a:xfrm>
            <a:custGeom>
              <a:avLst/>
              <a:gdLst/>
              <a:ahLst/>
              <a:cxnLst/>
              <a:rect r="r" b="b" t="t" l="l"/>
              <a:pathLst>
                <a:path h="953070" w="1091728">
                  <a:moveTo>
                    <a:pt x="28499" y="0"/>
                  </a:moveTo>
                  <a:lnTo>
                    <a:pt x="1063229" y="0"/>
                  </a:lnTo>
                  <a:cubicBezTo>
                    <a:pt x="1070788" y="0"/>
                    <a:pt x="1078037" y="3003"/>
                    <a:pt x="1083381" y="8347"/>
                  </a:cubicBezTo>
                  <a:cubicBezTo>
                    <a:pt x="1088726" y="13692"/>
                    <a:pt x="1091728" y="20941"/>
                    <a:pt x="1091728" y="28499"/>
                  </a:cubicBezTo>
                  <a:lnTo>
                    <a:pt x="1091728" y="924571"/>
                  </a:lnTo>
                  <a:cubicBezTo>
                    <a:pt x="1091728" y="940310"/>
                    <a:pt x="1078969" y="953070"/>
                    <a:pt x="1063229" y="953070"/>
                  </a:cubicBezTo>
                  <a:lnTo>
                    <a:pt x="28499" y="953070"/>
                  </a:lnTo>
                  <a:cubicBezTo>
                    <a:pt x="12759" y="953070"/>
                    <a:pt x="0" y="940310"/>
                    <a:pt x="0" y="924571"/>
                  </a:cubicBezTo>
                  <a:lnTo>
                    <a:pt x="0" y="28499"/>
                  </a:lnTo>
                  <a:cubicBezTo>
                    <a:pt x="0" y="12759"/>
                    <a:pt x="12759" y="0"/>
                    <a:pt x="28499" y="0"/>
                  </a:cubicBezTo>
                  <a:close/>
                </a:path>
              </a:pathLst>
            </a:custGeom>
            <a:gradFill rotWithShape="true">
              <a:gsLst>
                <a:gs pos="0">
                  <a:srgbClr val="000000">
                    <a:alpha val="80000"/>
                  </a:srgbClr>
                </a:gs>
                <a:gs pos="100000">
                  <a:srgbClr val="3533CD">
                    <a:alpha val="80000"/>
                  </a:srgbClr>
                </a:gs>
              </a:gsLst>
              <a:lin ang="0"/>
            </a:gradFill>
          </p:spPr>
        </p:sp>
        <p:sp>
          <p:nvSpPr>
            <p:cNvPr name="TextBox 16" id="16"/>
            <p:cNvSpPr txBox="true"/>
            <p:nvPr/>
          </p:nvSpPr>
          <p:spPr>
            <a:xfrm>
              <a:off x="0" y="-47625"/>
              <a:ext cx="1091728" cy="1000695"/>
            </a:xfrm>
            <a:prstGeom prst="rect">
              <a:avLst/>
            </a:prstGeom>
          </p:spPr>
          <p:txBody>
            <a:bodyPr anchor="ctr" rtlCol="false" tIns="50800" lIns="50800" bIns="50800" rIns="50800"/>
            <a:lstStyle/>
            <a:p>
              <a:pPr algn="ctr">
                <a:lnSpc>
                  <a:spcPts val="3640"/>
                </a:lnSpc>
              </a:pPr>
            </a:p>
          </p:txBody>
        </p:sp>
      </p:grpSp>
      <p:sp>
        <p:nvSpPr>
          <p:cNvPr name="TextBox 17" id="17"/>
          <p:cNvSpPr txBox="true"/>
          <p:nvPr/>
        </p:nvSpPr>
        <p:spPr>
          <a:xfrm rot="0">
            <a:off x="12714036" y="5421111"/>
            <a:ext cx="5456849" cy="3472410"/>
          </a:xfrm>
          <a:prstGeom prst="rect">
            <a:avLst/>
          </a:prstGeom>
        </p:spPr>
        <p:txBody>
          <a:bodyPr anchor="t" rtlCol="false" tIns="0" lIns="0" bIns="0" rIns="0">
            <a:spAutoFit/>
          </a:bodyPr>
          <a:lstStyle/>
          <a:p>
            <a:pPr algn="ctr">
              <a:lnSpc>
                <a:spcPts val="2790"/>
              </a:lnSpc>
            </a:pPr>
            <a:r>
              <a:rPr lang="en-US" sz="1993">
                <a:solidFill>
                  <a:srgbClr val="F1F4F8"/>
                </a:solidFill>
                <a:latin typeface="TT Fors"/>
                <a:ea typeface="TT Fors"/>
                <a:cs typeface="TT Fors"/>
                <a:sym typeface="TT Fors"/>
              </a:rPr>
              <a:t>int main(){</a:t>
            </a:r>
          </a:p>
          <a:p>
            <a:pPr algn="ctr">
              <a:lnSpc>
                <a:spcPts val="2790"/>
              </a:lnSpc>
            </a:pPr>
            <a:r>
              <a:rPr lang="en-US" sz="1993">
                <a:solidFill>
                  <a:srgbClr val="F1F4F8"/>
                </a:solidFill>
                <a:latin typeface="TT Fors"/>
                <a:ea typeface="TT Fors"/>
                <a:cs typeface="TT Fors"/>
                <a:sym typeface="TT Fors"/>
              </a:rPr>
              <a:t> int choice; double a,b,result;</a:t>
            </a:r>
          </a:p>
          <a:p>
            <a:pPr algn="ctr">
              <a:lnSpc>
                <a:spcPts val="2790"/>
              </a:lnSpc>
            </a:pPr>
            <a:r>
              <a:rPr lang="en-US" sz="1993">
                <a:solidFill>
                  <a:srgbClr val="F1F4F8"/>
                </a:solidFill>
                <a:latin typeface="TT Fors"/>
                <a:ea typeface="TT Fors"/>
                <a:cs typeface="TT Fors"/>
                <a:sym typeface="TT Fors"/>
              </a:rPr>
              <a:t> do{ showMenu(); cin&gt;&gt;choice;</a:t>
            </a:r>
          </a:p>
          <a:p>
            <a:pPr algn="ctr">
              <a:lnSpc>
                <a:spcPts val="2790"/>
              </a:lnSpc>
            </a:pPr>
            <a:r>
              <a:rPr lang="en-US" sz="1993">
                <a:solidFill>
                  <a:srgbClr val="F1F4F8"/>
                </a:solidFill>
                <a:latin typeface="TT Fors"/>
                <a:ea typeface="TT Fors"/>
                <a:cs typeface="TT Fors"/>
                <a:sym typeface="TT Fors"/>
              </a:rPr>
              <a:t>  if(choice==5){cin&gt;&gt;a;}</a:t>
            </a:r>
          </a:p>
          <a:p>
            <a:pPr algn="ctr">
              <a:lnSpc>
                <a:spcPts val="2790"/>
              </a:lnSpc>
            </a:pPr>
            <a:r>
              <a:rPr lang="en-US" sz="1993">
                <a:solidFill>
                  <a:srgbClr val="F1F4F8"/>
                </a:solidFill>
                <a:latin typeface="TT Fors"/>
                <a:ea typeface="TT Fors"/>
                <a:cs typeface="TT Fors"/>
                <a:sym typeface="TT Fors"/>
              </a:rPr>
              <a:t>  else{cin&gt;&gt;a&gt;&gt;b;}</a:t>
            </a:r>
          </a:p>
          <a:p>
            <a:pPr algn="ctr">
              <a:lnSpc>
                <a:spcPts val="2790"/>
              </a:lnSpc>
            </a:pPr>
            <a:r>
              <a:rPr lang="en-US" sz="1993">
                <a:solidFill>
                  <a:srgbClr val="F1F4F8"/>
                </a:solidFill>
                <a:latin typeface="TT Fors"/>
                <a:ea typeface="TT Fors"/>
                <a:cs typeface="TT Fors"/>
                <a:sym typeface="TT Fors"/>
              </a:rPr>
              <a:t>  switch(choice){</a:t>
            </a:r>
          </a:p>
          <a:p>
            <a:pPr algn="ctr">
              <a:lnSpc>
                <a:spcPts val="2790"/>
              </a:lnSpc>
            </a:pPr>
            <a:r>
              <a:rPr lang="en-US" sz="1993">
                <a:solidFill>
                  <a:srgbClr val="F1F4F8"/>
                </a:solidFill>
                <a:latin typeface="TT Fors"/>
                <a:ea typeface="TT Fors"/>
                <a:cs typeface="TT Fors"/>
                <a:sym typeface="TT Fors"/>
              </a:rPr>
              <a:t>   case 1:cout&lt;&lt;add(a,b); break;</a:t>
            </a:r>
          </a:p>
          <a:p>
            <a:pPr algn="ctr">
              <a:lnSpc>
                <a:spcPts val="2790"/>
              </a:lnSpc>
            </a:pPr>
            <a:r>
              <a:rPr lang="en-US" sz="1993">
                <a:solidFill>
                  <a:srgbClr val="F1F4F8"/>
                </a:solidFill>
                <a:latin typeface="TT Fors"/>
                <a:ea typeface="TT Fors"/>
                <a:cs typeface="TT Fors"/>
                <a:sym typeface="TT Fors"/>
              </a:rPr>
              <a:t>   case 2:cout&lt;&lt;subtract(a,b);break;</a:t>
            </a:r>
          </a:p>
          <a:p>
            <a:pPr algn="ctr">
              <a:lnSpc>
                <a:spcPts val="2790"/>
              </a:lnSpc>
            </a:pPr>
            <a:r>
              <a:rPr lang="en-US" sz="1993">
                <a:solidFill>
                  <a:srgbClr val="F1F4F8"/>
                </a:solidFill>
                <a:latin typeface="TT Fors"/>
                <a:ea typeface="TT Fors"/>
                <a:cs typeface="TT Fors"/>
                <a:sym typeface="TT Fors"/>
              </a:rPr>
              <a:t>   case 4:cout&lt;&lt;divide(a,b);break;}</a:t>
            </a:r>
          </a:p>
          <a:p>
            <a:pPr algn="ctr" marL="0" indent="0" lvl="0">
              <a:lnSpc>
                <a:spcPts val="2790"/>
              </a:lnSpc>
              <a:spcBef>
                <a:spcPct val="0"/>
              </a:spcBef>
            </a:pPr>
            <a:r>
              <a:rPr lang="en-US" sz="1993">
                <a:solidFill>
                  <a:srgbClr val="F1F4F8"/>
                </a:solidFill>
                <a:latin typeface="TT Fors"/>
                <a:ea typeface="TT Fors"/>
                <a:cs typeface="TT Fors"/>
                <a:sym typeface="TT Fors"/>
              </a:rPr>
              <a:t> }while(choice!=0);}</a:t>
            </a:r>
          </a:p>
        </p:txBody>
      </p:sp>
      <p:sp>
        <p:nvSpPr>
          <p:cNvPr name="TextBox 18" id="18"/>
          <p:cNvSpPr txBox="true"/>
          <p:nvPr/>
        </p:nvSpPr>
        <p:spPr>
          <a:xfrm rot="0">
            <a:off x="14143512" y="4770893"/>
            <a:ext cx="4754730" cy="600783"/>
          </a:xfrm>
          <a:prstGeom prst="rect">
            <a:avLst/>
          </a:prstGeom>
        </p:spPr>
        <p:txBody>
          <a:bodyPr anchor="t" rtlCol="false" tIns="0" lIns="0" bIns="0" rIns="0">
            <a:spAutoFit/>
          </a:bodyPr>
          <a:lstStyle/>
          <a:p>
            <a:pPr algn="l" marL="0" indent="0" lvl="0">
              <a:lnSpc>
                <a:spcPts val="4438"/>
              </a:lnSpc>
              <a:spcBef>
                <a:spcPct val="0"/>
              </a:spcBef>
            </a:pPr>
            <a:r>
              <a:rPr lang="en-US" sz="3170" spc="-95">
                <a:solidFill>
                  <a:srgbClr val="F1F4F8"/>
                </a:solidFill>
                <a:latin typeface="ITC Avant Garde Gothic"/>
                <a:ea typeface="ITC Avant Garde Gothic"/>
                <a:cs typeface="ITC Avant Garde Gothic"/>
                <a:sym typeface="ITC Avant Garde Gothic"/>
              </a:rPr>
              <a:t>Main Function</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85420" y="3925582"/>
            <a:ext cx="11002432" cy="4048501"/>
            <a:chOff x="0" y="0"/>
            <a:chExt cx="2183054" cy="803286"/>
          </a:xfrm>
        </p:grpSpPr>
        <p:sp>
          <p:nvSpPr>
            <p:cNvPr name="Freeform 3" id="3"/>
            <p:cNvSpPr/>
            <p:nvPr/>
          </p:nvSpPr>
          <p:spPr>
            <a:xfrm flipH="false" flipV="false" rot="0">
              <a:off x="0" y="0"/>
              <a:ext cx="2183054" cy="803286"/>
            </a:xfrm>
            <a:custGeom>
              <a:avLst/>
              <a:gdLst/>
              <a:ahLst/>
              <a:cxnLst/>
              <a:rect r="r" b="b" t="t" l="l"/>
              <a:pathLst>
                <a:path h="803286" w="2183054">
                  <a:moveTo>
                    <a:pt x="13743" y="0"/>
                  </a:moveTo>
                  <a:lnTo>
                    <a:pt x="2169311" y="0"/>
                  </a:lnTo>
                  <a:cubicBezTo>
                    <a:pt x="2176901" y="0"/>
                    <a:pt x="2183054" y="6153"/>
                    <a:pt x="2183054" y="13743"/>
                  </a:cubicBezTo>
                  <a:lnTo>
                    <a:pt x="2183054" y="789542"/>
                  </a:lnTo>
                  <a:cubicBezTo>
                    <a:pt x="2183054" y="797133"/>
                    <a:pt x="2176901" y="803286"/>
                    <a:pt x="2169311" y="803286"/>
                  </a:cubicBezTo>
                  <a:lnTo>
                    <a:pt x="13743" y="803286"/>
                  </a:lnTo>
                  <a:cubicBezTo>
                    <a:pt x="6153" y="803286"/>
                    <a:pt x="0" y="797133"/>
                    <a:pt x="0" y="789542"/>
                  </a:cubicBezTo>
                  <a:lnTo>
                    <a:pt x="0" y="13743"/>
                  </a:lnTo>
                  <a:cubicBezTo>
                    <a:pt x="0" y="6153"/>
                    <a:pt x="6153" y="0"/>
                    <a:pt x="13743" y="0"/>
                  </a:cubicBezTo>
                  <a:close/>
                </a:path>
              </a:pathLst>
            </a:custGeom>
            <a:gradFill rotWithShape="true">
              <a:gsLst>
                <a:gs pos="0">
                  <a:srgbClr val="000000">
                    <a:alpha val="80000"/>
                  </a:srgbClr>
                </a:gs>
                <a:gs pos="100000">
                  <a:srgbClr val="3533CD">
                    <a:alpha val="80000"/>
                  </a:srgbClr>
                </a:gs>
              </a:gsLst>
              <a:lin ang="0"/>
            </a:gradFill>
          </p:spPr>
        </p:sp>
        <p:sp>
          <p:nvSpPr>
            <p:cNvPr name="TextBox 4" id="4"/>
            <p:cNvSpPr txBox="true"/>
            <p:nvPr/>
          </p:nvSpPr>
          <p:spPr>
            <a:xfrm>
              <a:off x="0" y="-47625"/>
              <a:ext cx="2183054" cy="850911"/>
            </a:xfrm>
            <a:prstGeom prst="rect">
              <a:avLst/>
            </a:prstGeom>
          </p:spPr>
          <p:txBody>
            <a:bodyPr anchor="ctr" rtlCol="false" tIns="50800" lIns="50800" bIns="50800" rIns="50800"/>
            <a:lstStyle/>
            <a:p>
              <a:pPr algn="ctr">
                <a:lnSpc>
                  <a:spcPts val="3640"/>
                </a:lnSpc>
              </a:pP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9" id="9"/>
          <p:cNvSpPr/>
          <p:nvPr/>
        </p:nvSpPr>
        <p:spPr>
          <a:xfrm flipH="false" flipV="false" rot="0">
            <a:off x="12852638" y="2577267"/>
            <a:ext cx="4315383" cy="4398692"/>
          </a:xfrm>
          <a:custGeom>
            <a:avLst/>
            <a:gdLst/>
            <a:ahLst/>
            <a:cxnLst/>
            <a:rect r="r" b="b" t="t" l="l"/>
            <a:pathLst>
              <a:path h="4398692" w="4315383">
                <a:moveTo>
                  <a:pt x="0" y="0"/>
                </a:moveTo>
                <a:lnTo>
                  <a:pt x="4315383" y="0"/>
                </a:lnTo>
                <a:lnTo>
                  <a:pt x="4315383" y="4398691"/>
                </a:lnTo>
                <a:lnTo>
                  <a:pt x="0" y="4398691"/>
                </a:lnTo>
                <a:lnTo>
                  <a:pt x="0" y="0"/>
                </a:lnTo>
                <a:close/>
              </a:path>
            </a:pathLst>
          </a:custGeom>
          <a:blipFill>
            <a:blip r:embed="rId4"/>
            <a:stretch>
              <a:fillRect l="0" t="0" r="0" b="0"/>
            </a:stretch>
          </a:blipFill>
        </p:spPr>
      </p:sp>
      <p:sp>
        <p:nvSpPr>
          <p:cNvPr name="TextBox 10" id="10"/>
          <p:cNvSpPr txBox="true"/>
          <p:nvPr/>
        </p:nvSpPr>
        <p:spPr>
          <a:xfrm rot="0">
            <a:off x="1028700" y="1019175"/>
            <a:ext cx="14301938" cy="1558092"/>
          </a:xfrm>
          <a:prstGeom prst="rect">
            <a:avLst/>
          </a:prstGeom>
        </p:spPr>
        <p:txBody>
          <a:bodyPr anchor="t" rtlCol="false" tIns="0" lIns="0" bIns="0" rIns="0">
            <a:spAutoFit/>
          </a:bodyPr>
          <a:lstStyle/>
          <a:p>
            <a:pPr algn="l" marL="0" indent="0" lvl="0">
              <a:lnSpc>
                <a:spcPts val="10214"/>
              </a:lnSpc>
              <a:spcBef>
                <a:spcPct val="0"/>
              </a:spcBef>
            </a:pPr>
            <a:r>
              <a:rPr lang="en-US" sz="10214" spc="-306">
                <a:solidFill>
                  <a:srgbClr val="F1F4F8"/>
                </a:solidFill>
                <a:latin typeface="ITC Avant Garde Gothic"/>
                <a:ea typeface="ITC Avant Garde Gothic"/>
                <a:cs typeface="ITC Avant Garde Gothic"/>
                <a:sym typeface="ITC Avant Garde Gothic"/>
              </a:rPr>
              <a:t>Program Output</a:t>
            </a:r>
          </a:p>
        </p:txBody>
      </p:sp>
      <p:sp>
        <p:nvSpPr>
          <p:cNvPr name="TextBox 11" id="11"/>
          <p:cNvSpPr txBox="true"/>
          <p:nvPr/>
        </p:nvSpPr>
        <p:spPr>
          <a:xfrm rot="0">
            <a:off x="1058691" y="5207333"/>
            <a:ext cx="10629161" cy="3299613"/>
          </a:xfrm>
          <a:prstGeom prst="rect">
            <a:avLst/>
          </a:prstGeom>
        </p:spPr>
        <p:txBody>
          <a:bodyPr anchor="t" rtlCol="false" tIns="0" lIns="0" bIns="0" rIns="0">
            <a:spAutoFit/>
          </a:bodyPr>
          <a:lstStyle/>
          <a:p>
            <a:pPr algn="l">
              <a:lnSpc>
                <a:spcPts val="3753"/>
              </a:lnSpc>
            </a:pPr>
            <a:r>
              <a:rPr lang="en-US" sz="2681">
                <a:solidFill>
                  <a:srgbClr val="F1F4F8"/>
                </a:solidFill>
                <a:latin typeface="TT Fors"/>
                <a:ea typeface="TT Fors"/>
                <a:cs typeface="TT Fors"/>
                <a:sym typeface="TT Fors"/>
              </a:rPr>
              <a:t>Choice: 1 → Add</a:t>
            </a:r>
          </a:p>
          <a:p>
            <a:pPr algn="l">
              <a:lnSpc>
                <a:spcPts val="3753"/>
              </a:lnSpc>
            </a:pPr>
            <a:r>
              <a:rPr lang="en-US" sz="2681">
                <a:solidFill>
                  <a:srgbClr val="F1F4F8"/>
                </a:solidFill>
                <a:latin typeface="TT Fors"/>
                <a:ea typeface="TT Fors"/>
                <a:cs typeface="TT Fors"/>
                <a:sym typeface="TT Fors"/>
              </a:rPr>
              <a:t>Input: 10, 5 → Result: 15</a:t>
            </a:r>
          </a:p>
          <a:p>
            <a:pPr algn="l">
              <a:lnSpc>
                <a:spcPts val="3753"/>
              </a:lnSpc>
            </a:pPr>
          </a:p>
          <a:p>
            <a:pPr algn="l">
              <a:lnSpc>
                <a:spcPts val="3753"/>
              </a:lnSpc>
            </a:pPr>
            <a:r>
              <a:rPr lang="en-US" sz="2681">
                <a:solidFill>
                  <a:srgbClr val="F1F4F8"/>
                </a:solidFill>
                <a:latin typeface="TT Fors"/>
                <a:ea typeface="TT Fors"/>
                <a:cs typeface="TT Fors"/>
                <a:sym typeface="TT Fors"/>
              </a:rPr>
              <a:t>Choice: 4 → Divide</a:t>
            </a:r>
          </a:p>
          <a:p>
            <a:pPr algn="l">
              <a:lnSpc>
                <a:spcPts val="3753"/>
              </a:lnSpc>
            </a:pPr>
            <a:r>
              <a:rPr lang="en-US" sz="2681">
                <a:solidFill>
                  <a:srgbClr val="F1F4F8"/>
                </a:solidFill>
                <a:latin typeface="TT Fors"/>
                <a:ea typeface="TT Fors"/>
                <a:cs typeface="TT Fors"/>
                <a:sym typeface="TT Fors"/>
              </a:rPr>
              <a:t>Input: 20, 4 → Result: 5</a:t>
            </a:r>
          </a:p>
          <a:p>
            <a:pPr algn="l">
              <a:lnSpc>
                <a:spcPts val="3753"/>
              </a:lnSpc>
            </a:pPr>
          </a:p>
          <a:p>
            <a:pPr algn="l" marL="0" indent="0" lvl="0">
              <a:lnSpc>
                <a:spcPts val="3753"/>
              </a:lnSpc>
            </a:pPr>
          </a:p>
        </p:txBody>
      </p:sp>
      <p:sp>
        <p:nvSpPr>
          <p:cNvPr name="TextBox 12" id="12"/>
          <p:cNvSpPr txBox="true"/>
          <p:nvPr/>
        </p:nvSpPr>
        <p:spPr>
          <a:xfrm rot="0">
            <a:off x="1028700" y="4448721"/>
            <a:ext cx="12465549" cy="629762"/>
          </a:xfrm>
          <a:prstGeom prst="rect">
            <a:avLst/>
          </a:prstGeom>
        </p:spPr>
        <p:txBody>
          <a:bodyPr anchor="t" rtlCol="false" tIns="0" lIns="0" bIns="0" rIns="0">
            <a:spAutoFit/>
          </a:bodyPr>
          <a:lstStyle/>
          <a:p>
            <a:pPr algn="l" marL="0" indent="0" lvl="0">
              <a:lnSpc>
                <a:spcPts val="4902"/>
              </a:lnSpc>
              <a:spcBef>
                <a:spcPct val="0"/>
              </a:spcBef>
            </a:pPr>
            <a:r>
              <a:rPr lang="en-US" sz="4085" spc="-122">
                <a:solidFill>
                  <a:srgbClr val="F1F4F8"/>
                </a:solidFill>
                <a:latin typeface="TT Fors"/>
                <a:ea typeface="TT Fors"/>
                <a:cs typeface="TT Fors"/>
                <a:sym typeface="TT Fors"/>
              </a:rPr>
              <a:t>Sample Execution — C++ Calculator</a:t>
            </a:r>
          </a:p>
        </p:txBody>
      </p:sp>
      <p:sp>
        <p:nvSpPr>
          <p:cNvPr name="TextBox 13" id="13"/>
          <p:cNvSpPr txBox="true"/>
          <p:nvPr/>
        </p:nvSpPr>
        <p:spPr>
          <a:xfrm rot="0">
            <a:off x="6186636" y="5207333"/>
            <a:ext cx="3771900" cy="2267585"/>
          </a:xfrm>
          <a:prstGeom prst="rect">
            <a:avLst/>
          </a:prstGeom>
        </p:spPr>
        <p:txBody>
          <a:bodyPr anchor="t" rtlCol="false" tIns="0" lIns="0" bIns="0" rIns="0">
            <a:spAutoFit/>
          </a:bodyPr>
          <a:lstStyle/>
          <a:p>
            <a:pPr algn="ctr">
              <a:lnSpc>
                <a:spcPts val="3640"/>
              </a:lnSpc>
            </a:pPr>
            <a:r>
              <a:rPr lang="en-US" sz="2600">
                <a:solidFill>
                  <a:srgbClr val="F1F4F8"/>
                </a:solidFill>
                <a:latin typeface="TT Fors"/>
                <a:ea typeface="TT Fors"/>
                <a:cs typeface="TT Fors"/>
                <a:sym typeface="TT Fors"/>
              </a:rPr>
              <a:t>Choice: 5 → Square Root</a:t>
            </a:r>
          </a:p>
          <a:p>
            <a:pPr algn="ctr">
              <a:lnSpc>
                <a:spcPts val="3640"/>
              </a:lnSpc>
            </a:pPr>
            <a:r>
              <a:rPr lang="en-US" sz="2600">
                <a:solidFill>
                  <a:srgbClr val="F1F4F8"/>
                </a:solidFill>
                <a:latin typeface="TT Fors"/>
                <a:ea typeface="TT Fors"/>
                <a:cs typeface="TT Fors"/>
                <a:sym typeface="TT Fors"/>
              </a:rPr>
              <a:t>Input: 25   → Result: 5</a:t>
            </a:r>
          </a:p>
          <a:p>
            <a:pPr algn="ctr">
              <a:lnSpc>
                <a:spcPts val="3640"/>
              </a:lnSpc>
            </a:pPr>
          </a:p>
          <a:p>
            <a:pPr algn="ctr">
              <a:lnSpc>
                <a:spcPts val="3640"/>
              </a:lnSpc>
            </a:pPr>
            <a:r>
              <a:rPr lang="en-US" sz="2600">
                <a:solidFill>
                  <a:srgbClr val="F1F4F8"/>
                </a:solidFill>
                <a:latin typeface="TT Fors"/>
                <a:ea typeface="TT Fors"/>
                <a:cs typeface="TT Fors"/>
                <a:sym typeface="TT Fors"/>
              </a:rPr>
              <a:t>Choice: 6 → Power</a:t>
            </a:r>
          </a:p>
          <a:p>
            <a:pPr algn="ctr">
              <a:lnSpc>
                <a:spcPts val="3640"/>
              </a:lnSpc>
            </a:pPr>
            <a:r>
              <a:rPr lang="en-US" sz="2600">
                <a:solidFill>
                  <a:srgbClr val="F1F4F8"/>
                </a:solidFill>
                <a:latin typeface="TT Fors"/>
                <a:ea typeface="TT Fors"/>
                <a:cs typeface="TT Fors"/>
                <a:sym typeface="TT Fors"/>
              </a:rPr>
              <a:t>Input: 2, 8 → Result: 256</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516632" y="4248150"/>
            <a:ext cx="12121891" cy="4686759"/>
            <a:chOff x="0" y="0"/>
            <a:chExt cx="2494216" cy="964354"/>
          </a:xfrm>
        </p:grpSpPr>
        <p:sp>
          <p:nvSpPr>
            <p:cNvPr name="Freeform 3" id="3"/>
            <p:cNvSpPr/>
            <p:nvPr/>
          </p:nvSpPr>
          <p:spPr>
            <a:xfrm flipH="false" flipV="false" rot="0">
              <a:off x="0" y="0"/>
              <a:ext cx="2494216" cy="964354"/>
            </a:xfrm>
            <a:custGeom>
              <a:avLst/>
              <a:gdLst/>
              <a:ahLst/>
              <a:cxnLst/>
              <a:rect r="r" b="b" t="t" l="l"/>
              <a:pathLst>
                <a:path h="964354" w="2494216">
                  <a:moveTo>
                    <a:pt x="12474" y="0"/>
                  </a:moveTo>
                  <a:lnTo>
                    <a:pt x="2481742" y="0"/>
                  </a:lnTo>
                  <a:cubicBezTo>
                    <a:pt x="2488631" y="0"/>
                    <a:pt x="2494216" y="5585"/>
                    <a:pt x="2494216" y="12474"/>
                  </a:cubicBezTo>
                  <a:lnTo>
                    <a:pt x="2494216" y="951880"/>
                  </a:lnTo>
                  <a:cubicBezTo>
                    <a:pt x="2494216" y="955188"/>
                    <a:pt x="2492902" y="958361"/>
                    <a:pt x="2490563" y="960700"/>
                  </a:cubicBezTo>
                  <a:cubicBezTo>
                    <a:pt x="2488223" y="963040"/>
                    <a:pt x="2485050" y="964354"/>
                    <a:pt x="2481742" y="964354"/>
                  </a:cubicBezTo>
                  <a:lnTo>
                    <a:pt x="12474" y="964354"/>
                  </a:lnTo>
                  <a:cubicBezTo>
                    <a:pt x="5585" y="964354"/>
                    <a:pt x="0" y="958769"/>
                    <a:pt x="0" y="951880"/>
                  </a:cubicBezTo>
                  <a:lnTo>
                    <a:pt x="0" y="12474"/>
                  </a:lnTo>
                  <a:cubicBezTo>
                    <a:pt x="0" y="9166"/>
                    <a:pt x="1314" y="5993"/>
                    <a:pt x="3654" y="3654"/>
                  </a:cubicBezTo>
                  <a:cubicBezTo>
                    <a:pt x="5993" y="1314"/>
                    <a:pt x="9166" y="0"/>
                    <a:pt x="12474" y="0"/>
                  </a:cubicBezTo>
                  <a:close/>
                </a:path>
              </a:pathLst>
            </a:custGeom>
            <a:gradFill rotWithShape="true">
              <a:gsLst>
                <a:gs pos="0">
                  <a:srgbClr val="000000">
                    <a:alpha val="80000"/>
                  </a:srgbClr>
                </a:gs>
                <a:gs pos="100000">
                  <a:srgbClr val="3533CD">
                    <a:alpha val="80000"/>
                  </a:srgbClr>
                </a:gs>
              </a:gsLst>
              <a:lin ang="0"/>
            </a:gradFill>
          </p:spPr>
        </p:sp>
        <p:sp>
          <p:nvSpPr>
            <p:cNvPr name="TextBox 4" id="4"/>
            <p:cNvSpPr txBox="true"/>
            <p:nvPr/>
          </p:nvSpPr>
          <p:spPr>
            <a:xfrm>
              <a:off x="0" y="-47625"/>
              <a:ext cx="2494216" cy="1011979"/>
            </a:xfrm>
            <a:prstGeom prst="rect">
              <a:avLst/>
            </a:prstGeom>
          </p:spPr>
          <p:txBody>
            <a:bodyPr anchor="ctr" rtlCol="false" tIns="50800" lIns="50800" bIns="50800" rIns="50800"/>
            <a:lstStyle/>
            <a:p>
              <a:pPr algn="ctr">
                <a:lnSpc>
                  <a:spcPts val="3640"/>
                </a:lnSpc>
              </a:pPr>
            </a:p>
          </p:txBody>
        </p:sp>
      </p:grpSp>
      <p:sp>
        <p:nvSpPr>
          <p:cNvPr name="TextBox 5" id="5"/>
          <p:cNvSpPr txBox="true"/>
          <p:nvPr/>
        </p:nvSpPr>
        <p:spPr>
          <a:xfrm rot="0">
            <a:off x="666750" y="5746997"/>
            <a:ext cx="11825312" cy="2610227"/>
          </a:xfrm>
          <a:prstGeom prst="rect">
            <a:avLst/>
          </a:prstGeom>
        </p:spPr>
        <p:txBody>
          <a:bodyPr anchor="t" rtlCol="false" tIns="0" lIns="0" bIns="0" rIns="0">
            <a:spAutoFit/>
          </a:bodyPr>
          <a:lstStyle/>
          <a:p>
            <a:pPr algn="l" marL="0" indent="0" lvl="0">
              <a:lnSpc>
                <a:spcPts val="4176"/>
              </a:lnSpc>
            </a:pPr>
            <a:r>
              <a:rPr lang="en-US" sz="2983">
                <a:solidFill>
                  <a:srgbClr val="F1F4F8"/>
                </a:solidFill>
                <a:latin typeface="TT Fors"/>
                <a:ea typeface="TT Fors"/>
                <a:cs typeface="TT Fors"/>
                <a:sym typeface="TT Fors"/>
              </a:rPr>
              <a:t>This project successfully demonstrates a command-line calculator in C++ that performs addition, subtraction, multiplication, division, square root, and exponentiation. It highlights the use of functions, switch statements, and error handling to build a clean, reliable, and extensible application.</a:t>
            </a:r>
          </a:p>
        </p:txBody>
      </p:sp>
      <p:sp>
        <p:nvSpPr>
          <p:cNvPr name="TextBox 6" id="6"/>
          <p:cNvSpPr txBox="true"/>
          <p:nvPr/>
        </p:nvSpPr>
        <p:spPr>
          <a:xfrm rot="0">
            <a:off x="666750" y="4472715"/>
            <a:ext cx="13868358" cy="699560"/>
          </a:xfrm>
          <a:prstGeom prst="rect">
            <a:avLst/>
          </a:prstGeom>
        </p:spPr>
        <p:txBody>
          <a:bodyPr anchor="t" rtlCol="false" tIns="0" lIns="0" bIns="0" rIns="0">
            <a:spAutoFit/>
          </a:bodyPr>
          <a:lstStyle/>
          <a:p>
            <a:pPr algn="l" marL="0" indent="0" lvl="0">
              <a:lnSpc>
                <a:spcPts val="5454"/>
              </a:lnSpc>
              <a:spcBef>
                <a:spcPct val="0"/>
              </a:spcBef>
            </a:pPr>
            <a:r>
              <a:rPr lang="en-US" sz="4545" spc="-136">
                <a:solidFill>
                  <a:srgbClr val="F1F4F8"/>
                </a:solidFill>
                <a:latin typeface="TT Fors"/>
                <a:ea typeface="TT Fors"/>
                <a:cs typeface="TT Fors"/>
                <a:sym typeface="TT Fors"/>
              </a:rPr>
              <a:t>Summary of the C++ Calculator Project</a:t>
            </a:r>
          </a:p>
        </p:txBody>
      </p:sp>
      <p:sp>
        <p:nvSpPr>
          <p:cNvPr name="TextBox 7" id="7"/>
          <p:cNvSpPr txBox="true"/>
          <p:nvPr/>
        </p:nvSpPr>
        <p:spPr>
          <a:xfrm rot="0">
            <a:off x="666750" y="666750"/>
            <a:ext cx="15911404" cy="1722834"/>
          </a:xfrm>
          <a:prstGeom prst="rect">
            <a:avLst/>
          </a:prstGeom>
        </p:spPr>
        <p:txBody>
          <a:bodyPr anchor="t" rtlCol="false" tIns="0" lIns="0" bIns="0" rIns="0">
            <a:spAutoFit/>
          </a:bodyPr>
          <a:lstStyle/>
          <a:p>
            <a:pPr algn="l" marL="0" indent="0" lvl="0">
              <a:lnSpc>
                <a:spcPts val="11363"/>
              </a:lnSpc>
              <a:spcBef>
                <a:spcPct val="0"/>
              </a:spcBef>
            </a:pPr>
            <a:r>
              <a:rPr lang="en-US" sz="11363" spc="-340">
                <a:solidFill>
                  <a:srgbClr val="F1F4F8"/>
                </a:solidFill>
                <a:latin typeface="ITC Avant Garde Gothic"/>
                <a:ea typeface="ITC Avant Garde Gothic"/>
                <a:cs typeface="ITC Avant Garde Gothic"/>
                <a:sym typeface="ITC Avant Garde Gothic"/>
              </a:rPr>
              <a:t>Conclusion</a:t>
            </a:r>
          </a:p>
        </p:txBody>
      </p:sp>
      <p:grpSp>
        <p:nvGrpSpPr>
          <p:cNvPr name="Group 8" id="8"/>
          <p:cNvGrpSpPr/>
          <p:nvPr/>
        </p:nvGrpSpPr>
        <p:grpSpPr>
          <a:xfrm rot="0">
            <a:off x="14744700" y="7829550"/>
            <a:ext cx="4846643" cy="1791955"/>
            <a:chOff x="0" y="0"/>
            <a:chExt cx="6462190" cy="2389273"/>
          </a:xfrm>
        </p:grpSpPr>
        <p:sp>
          <p:nvSpPr>
            <p:cNvPr name="Freeform 9" id="9"/>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013992" y="-222257"/>
            <a:ext cx="18288000" cy="10731514"/>
          </a:xfrm>
          <a:custGeom>
            <a:avLst/>
            <a:gdLst/>
            <a:ahLst/>
            <a:cxnLst/>
            <a:rect r="r" b="b" t="t" l="l"/>
            <a:pathLst>
              <a:path h="10731514" w="18288000">
                <a:moveTo>
                  <a:pt x="0" y="0"/>
                </a:moveTo>
                <a:lnTo>
                  <a:pt x="18288000" y="0"/>
                </a:lnTo>
                <a:lnTo>
                  <a:pt x="18288000" y="10731514"/>
                </a:lnTo>
                <a:lnTo>
                  <a:pt x="0" y="10731514"/>
                </a:lnTo>
                <a:lnTo>
                  <a:pt x="0" y="0"/>
                </a:lnTo>
                <a:close/>
              </a:path>
            </a:pathLst>
          </a:custGeom>
          <a:blipFill>
            <a:blip r:embed="rId2">
              <a:alphaModFix amt="31000"/>
            </a:blip>
            <a:stretch>
              <a:fillRect l="0" t="-3254" r="0" b="-3254"/>
            </a:stretch>
          </a:blipFill>
        </p:spPr>
      </p:sp>
      <p:grpSp>
        <p:nvGrpSpPr>
          <p:cNvPr name="Group 3" id="3"/>
          <p:cNvGrpSpPr/>
          <p:nvPr/>
        </p:nvGrpSpPr>
        <p:grpSpPr>
          <a:xfrm rot="0">
            <a:off x="-2966622" y="2753884"/>
            <a:ext cx="17853026" cy="3605038"/>
            <a:chOff x="0" y="0"/>
            <a:chExt cx="23804035" cy="4806717"/>
          </a:xfrm>
        </p:grpSpPr>
        <p:sp>
          <p:nvSpPr>
            <p:cNvPr name="TextBox 4" id="4"/>
            <p:cNvSpPr txBox="true"/>
            <p:nvPr/>
          </p:nvSpPr>
          <p:spPr>
            <a:xfrm rot="0">
              <a:off x="5028380" y="2071284"/>
              <a:ext cx="18775655" cy="2735433"/>
            </a:xfrm>
            <a:prstGeom prst="rect">
              <a:avLst/>
            </a:prstGeom>
          </p:spPr>
          <p:txBody>
            <a:bodyPr anchor="t" rtlCol="false" tIns="0" lIns="0" bIns="0" rIns="0">
              <a:spAutoFit/>
            </a:bodyPr>
            <a:lstStyle/>
            <a:p>
              <a:pPr algn="l" marL="0" indent="0" lvl="0">
                <a:lnSpc>
                  <a:spcPts val="13532"/>
                </a:lnSpc>
                <a:spcBef>
                  <a:spcPct val="0"/>
                </a:spcBef>
              </a:pPr>
              <a:r>
                <a:rPr lang="en-US" sz="13532" spc="-405" strike="noStrike" u="none">
                  <a:solidFill>
                    <a:srgbClr val="F1F4F8"/>
                  </a:solidFill>
                  <a:latin typeface="ITC Avant Garde Gothic"/>
                  <a:ea typeface="ITC Avant Garde Gothic"/>
                  <a:cs typeface="ITC Avant Garde Gothic"/>
                  <a:sym typeface="ITC Avant Garde Gothic"/>
                </a:rPr>
                <a:t>Thank You.</a:t>
              </a:r>
            </a:p>
          </p:txBody>
        </p:sp>
        <p:sp>
          <p:nvSpPr>
            <p:cNvPr name="TextBox 5" id="5"/>
            <p:cNvSpPr txBox="true"/>
            <p:nvPr/>
          </p:nvSpPr>
          <p:spPr>
            <a:xfrm rot="0">
              <a:off x="0" y="-66675"/>
              <a:ext cx="11068284" cy="714375"/>
            </a:xfrm>
            <a:prstGeom prst="rect">
              <a:avLst/>
            </a:prstGeom>
          </p:spPr>
          <p:txBody>
            <a:bodyPr anchor="t" rtlCol="false" tIns="0" lIns="0" bIns="0" rIns="0">
              <a:spAutoFit/>
            </a:bodyPr>
            <a:lstStyle/>
            <a:p>
              <a:pPr algn="l" marL="0" indent="0" lvl="0">
                <a:lnSpc>
                  <a:spcPts val="3839"/>
                </a:lnSpc>
                <a:spcBef>
                  <a:spcPct val="0"/>
                </a:spcBef>
              </a:pPr>
            </a:p>
          </p:txBody>
        </p:sp>
      </p:gr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Social Media Brand Building</dc:description>
  <dc:identifier>DAG5_-nENHw</dc:identifier>
  <dcterms:modified xsi:type="dcterms:W3CDTF">2011-08-01T06:04:30Z</dcterms:modified>
  <cp:revision>1</cp:revision>
  <dc:title>Presentation - Calculator</dc:title>
</cp:coreProperties>
</file>